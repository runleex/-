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40525" cx="12960350"/>
  <p:notesSz cx="12960350" cy="68405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68">
          <p15:clr>
            <a:srgbClr val="A4A3A4"/>
          </p15:clr>
        </p15:guide>
        <p15:guide id="2" pos="4082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gq9n3YktuetFL4EWfAMpKpYeLi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77C52A-A53B-4A0B-9984-025432BBF465}">
  <a:tblStyle styleId="{F677C52A-A53B-4A0B-9984-025432BBF46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68" orient="horz"/>
        <p:guide pos="408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475" y="513025"/>
            <a:ext cx="8640650" cy="256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96025" y="3249225"/>
            <a:ext cx="10368275" cy="30782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:notes"/>
          <p:cNvSpPr txBox="1"/>
          <p:nvPr>
            <p:ph idx="1" type="body"/>
          </p:nvPr>
        </p:nvSpPr>
        <p:spPr>
          <a:xfrm>
            <a:off x="1296025" y="3249225"/>
            <a:ext cx="10368275" cy="3078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:notes"/>
          <p:cNvSpPr/>
          <p:nvPr>
            <p:ph idx="2" type="sldImg"/>
          </p:nvPr>
        </p:nvSpPr>
        <p:spPr>
          <a:xfrm>
            <a:off x="2160475" y="513025"/>
            <a:ext cx="8640650" cy="256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:notes"/>
          <p:cNvSpPr txBox="1"/>
          <p:nvPr>
            <p:ph idx="1" type="body"/>
          </p:nvPr>
        </p:nvSpPr>
        <p:spPr>
          <a:xfrm>
            <a:off x="1296025" y="3249225"/>
            <a:ext cx="10368275" cy="3078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:notes"/>
          <p:cNvSpPr/>
          <p:nvPr>
            <p:ph idx="2" type="sldImg"/>
          </p:nvPr>
        </p:nvSpPr>
        <p:spPr>
          <a:xfrm>
            <a:off x="2160475" y="513025"/>
            <a:ext cx="8640650" cy="256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/>
          <p:cNvSpPr txBox="1"/>
          <p:nvPr>
            <p:ph idx="1" type="body"/>
          </p:nvPr>
        </p:nvSpPr>
        <p:spPr>
          <a:xfrm>
            <a:off x="1296025" y="3249225"/>
            <a:ext cx="10368275" cy="3078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:notes"/>
          <p:cNvSpPr/>
          <p:nvPr>
            <p:ph idx="2" type="sldImg"/>
          </p:nvPr>
        </p:nvSpPr>
        <p:spPr>
          <a:xfrm>
            <a:off x="2160475" y="513025"/>
            <a:ext cx="8640650" cy="256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:notes"/>
          <p:cNvSpPr txBox="1"/>
          <p:nvPr>
            <p:ph idx="1" type="body"/>
          </p:nvPr>
        </p:nvSpPr>
        <p:spPr>
          <a:xfrm>
            <a:off x="1296025" y="3249225"/>
            <a:ext cx="10368275" cy="3078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:notes"/>
          <p:cNvSpPr/>
          <p:nvPr>
            <p:ph idx="2" type="sldImg"/>
          </p:nvPr>
        </p:nvSpPr>
        <p:spPr>
          <a:xfrm>
            <a:off x="2160475" y="513025"/>
            <a:ext cx="8640650" cy="256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:notes"/>
          <p:cNvSpPr txBox="1"/>
          <p:nvPr>
            <p:ph idx="1" type="body"/>
          </p:nvPr>
        </p:nvSpPr>
        <p:spPr>
          <a:xfrm>
            <a:off x="1296025" y="3249225"/>
            <a:ext cx="10368275" cy="3078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:notes"/>
          <p:cNvSpPr/>
          <p:nvPr>
            <p:ph idx="2" type="sldImg"/>
          </p:nvPr>
        </p:nvSpPr>
        <p:spPr>
          <a:xfrm>
            <a:off x="2160475" y="513025"/>
            <a:ext cx="8640650" cy="256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1296025" y="3249225"/>
            <a:ext cx="10368275" cy="3078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/>
          <p:nvPr>
            <p:ph idx="2" type="sldImg"/>
          </p:nvPr>
        </p:nvSpPr>
        <p:spPr>
          <a:xfrm>
            <a:off x="2160475" y="513025"/>
            <a:ext cx="8640650" cy="256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1296025" y="3249225"/>
            <a:ext cx="10368275" cy="3078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2160475" y="513025"/>
            <a:ext cx="8640650" cy="256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a9510f41b_0_164:notes"/>
          <p:cNvSpPr txBox="1"/>
          <p:nvPr>
            <p:ph idx="1" type="body"/>
          </p:nvPr>
        </p:nvSpPr>
        <p:spPr>
          <a:xfrm>
            <a:off x="1296025" y="3249225"/>
            <a:ext cx="10368300" cy="30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ea9510f41b_0_164:notes"/>
          <p:cNvSpPr/>
          <p:nvPr>
            <p:ph idx="2" type="sldImg"/>
          </p:nvPr>
        </p:nvSpPr>
        <p:spPr>
          <a:xfrm>
            <a:off x="2160475" y="513025"/>
            <a:ext cx="8640600" cy="25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:notes"/>
          <p:cNvSpPr txBox="1"/>
          <p:nvPr>
            <p:ph idx="1" type="body"/>
          </p:nvPr>
        </p:nvSpPr>
        <p:spPr>
          <a:xfrm>
            <a:off x="1296025" y="3249225"/>
            <a:ext cx="10368275" cy="3078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:notes"/>
          <p:cNvSpPr/>
          <p:nvPr>
            <p:ph idx="2" type="sldImg"/>
          </p:nvPr>
        </p:nvSpPr>
        <p:spPr>
          <a:xfrm>
            <a:off x="2160475" y="513025"/>
            <a:ext cx="8640650" cy="256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ab302d51d_0_7:notes"/>
          <p:cNvSpPr/>
          <p:nvPr>
            <p:ph idx="2" type="sldImg"/>
          </p:nvPr>
        </p:nvSpPr>
        <p:spPr>
          <a:xfrm>
            <a:off x="2160475" y="513025"/>
            <a:ext cx="8640600" cy="25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eab302d51d_0_7:notes"/>
          <p:cNvSpPr txBox="1"/>
          <p:nvPr>
            <p:ph idx="1" type="body"/>
          </p:nvPr>
        </p:nvSpPr>
        <p:spPr>
          <a:xfrm>
            <a:off x="1296025" y="3249225"/>
            <a:ext cx="10368300" cy="30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1296025" y="3249225"/>
            <a:ext cx="10368275" cy="3078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2160475" y="513025"/>
            <a:ext cx="8640650" cy="256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 txBox="1"/>
          <p:nvPr>
            <p:ph idx="1" type="body"/>
          </p:nvPr>
        </p:nvSpPr>
        <p:spPr>
          <a:xfrm>
            <a:off x="1296025" y="3249225"/>
            <a:ext cx="10368275" cy="3078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:notes"/>
          <p:cNvSpPr/>
          <p:nvPr>
            <p:ph idx="2" type="sldImg"/>
          </p:nvPr>
        </p:nvSpPr>
        <p:spPr>
          <a:xfrm>
            <a:off x="2160475" y="513025"/>
            <a:ext cx="8640650" cy="256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:notes"/>
          <p:cNvSpPr txBox="1"/>
          <p:nvPr>
            <p:ph idx="1" type="body"/>
          </p:nvPr>
        </p:nvSpPr>
        <p:spPr>
          <a:xfrm>
            <a:off x="1296025" y="3249225"/>
            <a:ext cx="10368275" cy="3078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4:notes"/>
          <p:cNvSpPr/>
          <p:nvPr>
            <p:ph idx="2" type="sldImg"/>
          </p:nvPr>
        </p:nvSpPr>
        <p:spPr>
          <a:xfrm>
            <a:off x="2160475" y="513025"/>
            <a:ext cx="8640650" cy="256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 type="title">
  <p:cSld name="TITLE">
    <p:bg>
      <p:bgPr>
        <a:solidFill>
          <a:schemeClr val="accen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916864" y="1616634"/>
            <a:ext cx="10423442" cy="2200943"/>
          </a:xfrm>
          <a:prstGeom prst="rect">
            <a:avLst/>
          </a:prstGeom>
          <a:noFill/>
          <a:ln>
            <a:noFill/>
          </a:ln>
        </p:spPr>
        <p:txBody>
          <a:bodyPr anchorCtr="0" anchor="b" bIns="36000" lIns="36000" spcFirstLastPara="1" rIns="36000" wrap="square" tIns="36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916864" y="3971148"/>
            <a:ext cx="10423443" cy="81967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lvl="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91024" y="7084883"/>
            <a:ext cx="2916079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170567" y="7084884"/>
            <a:ext cx="4374118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" name="Google Shape;1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70520" y="0"/>
            <a:ext cx="4189830" cy="6840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760" y="329338"/>
            <a:ext cx="1862895" cy="8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7"/>
          <p:cNvSpPr txBox="1"/>
          <p:nvPr/>
        </p:nvSpPr>
        <p:spPr>
          <a:xfrm rot="-5400002">
            <a:off x="11761283" y="930593"/>
            <a:ext cx="6906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/>
          </a:p>
        </p:txBody>
      </p:sp>
      <p:cxnSp>
        <p:nvCxnSpPr>
          <p:cNvPr id="19" name="Google Shape;19;p17"/>
          <p:cNvCxnSpPr/>
          <p:nvPr/>
        </p:nvCxnSpPr>
        <p:spPr>
          <a:xfrm>
            <a:off x="12128268" y="1404850"/>
            <a:ext cx="0" cy="2302626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" name="Google Shape;20;p17"/>
          <p:cNvSpPr txBox="1"/>
          <p:nvPr/>
        </p:nvSpPr>
        <p:spPr>
          <a:xfrm rot="-5400002">
            <a:off x="11574784" y="5590478"/>
            <a:ext cx="10971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РАНХиГС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56488" y="124477"/>
            <a:ext cx="1574789" cy="68718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8"/>
          <p:cNvSpPr/>
          <p:nvPr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8"/>
          <p:cNvSpPr txBox="1"/>
          <p:nvPr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8"/>
          <p:cNvCxnSpPr/>
          <p:nvPr/>
        </p:nvCxnSpPr>
        <p:spPr>
          <a:xfrm>
            <a:off x="1258529" y="6571637"/>
            <a:ext cx="2303433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" name="Google Shape;26;p18"/>
          <p:cNvSpPr txBox="1"/>
          <p:nvPr>
            <p:ph type="title"/>
          </p:nvPr>
        </p:nvSpPr>
        <p:spPr>
          <a:xfrm>
            <a:off x="900000" y="900000"/>
            <a:ext cx="9576679" cy="714358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891024" y="1820976"/>
            <a:ext cx="11205726" cy="4340259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891024" y="7084883"/>
            <a:ext cx="2916079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4170567" y="7084884"/>
            <a:ext cx="4374118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165463" y="266377"/>
            <a:ext cx="738132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1" name="Google Shape;31;p18"/>
          <p:cNvSpPr txBox="1"/>
          <p:nvPr/>
        </p:nvSpPr>
        <p:spPr>
          <a:xfrm>
            <a:off x="-33970" y="266377"/>
            <a:ext cx="93756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56488" y="124477"/>
            <a:ext cx="1574789" cy="68718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9"/>
          <p:cNvSpPr/>
          <p:nvPr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9"/>
          <p:cNvSpPr txBox="1"/>
          <p:nvPr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9"/>
          <p:cNvCxnSpPr/>
          <p:nvPr/>
        </p:nvCxnSpPr>
        <p:spPr>
          <a:xfrm>
            <a:off x="1258529" y="6571637"/>
            <a:ext cx="2303433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37" name="Google Shape;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2204" y="0"/>
            <a:ext cx="1058146" cy="684053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9"/>
          <p:cNvSpPr txBox="1"/>
          <p:nvPr>
            <p:ph idx="12" type="sldNum"/>
          </p:nvPr>
        </p:nvSpPr>
        <p:spPr>
          <a:xfrm>
            <a:off x="-33970" y="266377"/>
            <a:ext cx="93756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устой слайд">
  <p:cSld name="1_Пустой слайд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56488" y="124477"/>
            <a:ext cx="1574789" cy="68718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0"/>
          <p:cNvSpPr/>
          <p:nvPr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0"/>
          <p:cNvSpPr txBox="1"/>
          <p:nvPr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20"/>
          <p:cNvCxnSpPr/>
          <p:nvPr/>
        </p:nvCxnSpPr>
        <p:spPr>
          <a:xfrm>
            <a:off x="1258529" y="6571637"/>
            <a:ext cx="2303433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-33970" y="266377"/>
            <a:ext cx="93756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56488" y="124477"/>
            <a:ext cx="1574789" cy="68718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1"/>
          <p:cNvSpPr/>
          <p:nvPr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1"/>
          <p:cNvSpPr txBox="1"/>
          <p:nvPr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49;p21"/>
          <p:cNvCxnSpPr/>
          <p:nvPr/>
        </p:nvCxnSpPr>
        <p:spPr>
          <a:xfrm>
            <a:off x="1258529" y="6571637"/>
            <a:ext cx="2303433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0" name="Google Shape;50;p21"/>
          <p:cNvSpPr txBox="1"/>
          <p:nvPr>
            <p:ph type="ctrTitle"/>
          </p:nvPr>
        </p:nvSpPr>
        <p:spPr>
          <a:xfrm>
            <a:off x="1620044" y="1119505"/>
            <a:ext cx="9720263" cy="2381521"/>
          </a:xfrm>
          <a:prstGeom prst="rect">
            <a:avLst/>
          </a:prstGeom>
          <a:noFill/>
          <a:ln>
            <a:noFill/>
          </a:ln>
        </p:spPr>
        <p:txBody>
          <a:bodyPr anchorCtr="0" anchor="b" bIns="36000" lIns="36000" spcFirstLastPara="1" rIns="36000" wrap="square" tIns="36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" type="subTitle"/>
          </p:nvPr>
        </p:nvSpPr>
        <p:spPr>
          <a:xfrm>
            <a:off x="1620044" y="3592866"/>
            <a:ext cx="9720263" cy="165154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rmAutofit/>
          </a:bodyPr>
          <a:lstStyle>
            <a:lvl1pPr lvl="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lvl="1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2" name="Google Shape;52;p21"/>
          <p:cNvSpPr txBox="1"/>
          <p:nvPr>
            <p:ph idx="10" type="dt"/>
          </p:nvPr>
        </p:nvSpPr>
        <p:spPr>
          <a:xfrm>
            <a:off x="891024" y="7084883"/>
            <a:ext cx="2916079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1" type="ftr"/>
          </p:nvPr>
        </p:nvSpPr>
        <p:spPr>
          <a:xfrm>
            <a:off x="4170567" y="7084884"/>
            <a:ext cx="4374118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2" type="sldNum"/>
          </p:nvPr>
        </p:nvSpPr>
        <p:spPr>
          <a:xfrm>
            <a:off x="-33970" y="266377"/>
            <a:ext cx="93756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56488" y="124477"/>
            <a:ext cx="1574789" cy="68718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2"/>
          <p:cNvSpPr/>
          <p:nvPr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2"/>
          <p:cNvSpPr txBox="1"/>
          <p:nvPr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p22"/>
          <p:cNvCxnSpPr/>
          <p:nvPr/>
        </p:nvCxnSpPr>
        <p:spPr>
          <a:xfrm>
            <a:off x="1258529" y="6571637"/>
            <a:ext cx="2303433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0" name="Google Shape;60;p22"/>
          <p:cNvSpPr txBox="1"/>
          <p:nvPr>
            <p:ph type="ctrTitle"/>
          </p:nvPr>
        </p:nvSpPr>
        <p:spPr>
          <a:xfrm>
            <a:off x="900000" y="919197"/>
            <a:ext cx="8649708" cy="535138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subTitle"/>
          </p:nvPr>
        </p:nvSpPr>
        <p:spPr>
          <a:xfrm>
            <a:off x="4981303" y="2751909"/>
            <a:ext cx="6696892" cy="249250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rmAutofit/>
          </a:bodyPr>
          <a:lstStyle>
            <a:lvl1pPr lvl="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891024" y="7084883"/>
            <a:ext cx="2916079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4170567" y="7084884"/>
            <a:ext cx="4374118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-33970" y="266377"/>
            <a:ext cx="93756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5" name="Google Shape;65;p22"/>
          <p:cNvSpPr txBox="1"/>
          <p:nvPr>
            <p:ph idx="2" type="body"/>
          </p:nvPr>
        </p:nvSpPr>
        <p:spPr>
          <a:xfrm>
            <a:off x="900113" y="1625000"/>
            <a:ext cx="2916079" cy="430416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/>
          <p:nvPr/>
        </p:nvSpPr>
        <p:spPr>
          <a:xfrm>
            <a:off x="0" y="0"/>
            <a:ext cx="12960349" cy="684053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76012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3"/>
          <p:cNvSpPr txBox="1"/>
          <p:nvPr>
            <p:ph idx="1" type="subTitle"/>
          </p:nvPr>
        </p:nvSpPr>
        <p:spPr>
          <a:xfrm>
            <a:off x="3300547" y="2269024"/>
            <a:ext cx="6871063" cy="249250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rmAutofit/>
          </a:bodyPr>
          <a:lstStyle>
            <a:lvl1pPr lvl="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891024" y="7084883"/>
            <a:ext cx="2916079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4170567" y="7084884"/>
            <a:ext cx="4374118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/>
          <p:nvPr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-33970" y="266377"/>
            <a:ext cx="93756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400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400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400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400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400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400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400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400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400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73" name="Google Shape;73;p23"/>
          <p:cNvPicPr preferRelativeResize="0"/>
          <p:nvPr/>
        </p:nvPicPr>
        <p:blipFill rotWithShape="1">
          <a:blip r:embed="rId2">
            <a:alphaModFix/>
          </a:blip>
          <a:srcRect b="0" l="0" r="0" t="4828"/>
          <a:stretch/>
        </p:blipFill>
        <p:spPr>
          <a:xfrm>
            <a:off x="10684390" y="-1"/>
            <a:ext cx="1950721" cy="97614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3"/>
          <p:cNvSpPr txBox="1"/>
          <p:nvPr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23"/>
          <p:cNvCxnSpPr/>
          <p:nvPr/>
        </p:nvCxnSpPr>
        <p:spPr>
          <a:xfrm>
            <a:off x="1258529" y="6571637"/>
            <a:ext cx="2303433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56488" y="124477"/>
            <a:ext cx="1574789" cy="68718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4"/>
          <p:cNvSpPr/>
          <p:nvPr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4"/>
          <p:cNvSpPr txBox="1"/>
          <p:nvPr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24"/>
          <p:cNvCxnSpPr/>
          <p:nvPr/>
        </p:nvCxnSpPr>
        <p:spPr>
          <a:xfrm>
            <a:off x="1258529" y="6571637"/>
            <a:ext cx="2303433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1" name="Google Shape;81;p24"/>
          <p:cNvSpPr txBox="1"/>
          <p:nvPr>
            <p:ph type="title"/>
          </p:nvPr>
        </p:nvSpPr>
        <p:spPr>
          <a:xfrm>
            <a:off x="900000" y="900000"/>
            <a:ext cx="9627700" cy="740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/>
          <p:nvPr>
            <p:ph idx="2" type="pic"/>
          </p:nvPr>
        </p:nvSpPr>
        <p:spPr>
          <a:xfrm>
            <a:off x="4340995" y="1674796"/>
            <a:ext cx="7726642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4"/>
          <p:cNvSpPr txBox="1"/>
          <p:nvPr>
            <p:ph idx="1" type="body"/>
          </p:nvPr>
        </p:nvSpPr>
        <p:spPr>
          <a:xfrm>
            <a:off x="900113" y="1625000"/>
            <a:ext cx="2916079" cy="430416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24"/>
          <p:cNvSpPr txBox="1"/>
          <p:nvPr>
            <p:ph idx="10" type="dt"/>
          </p:nvPr>
        </p:nvSpPr>
        <p:spPr>
          <a:xfrm>
            <a:off x="891024" y="7084883"/>
            <a:ext cx="2916079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4"/>
          <p:cNvSpPr txBox="1"/>
          <p:nvPr>
            <p:ph idx="11" type="ftr"/>
          </p:nvPr>
        </p:nvSpPr>
        <p:spPr>
          <a:xfrm>
            <a:off x="4170567" y="7084884"/>
            <a:ext cx="4374118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4"/>
          <p:cNvSpPr txBox="1"/>
          <p:nvPr>
            <p:ph idx="12" type="sldNum"/>
          </p:nvPr>
        </p:nvSpPr>
        <p:spPr>
          <a:xfrm>
            <a:off x="165463" y="266377"/>
            <a:ext cx="738132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исунок с подписью">
  <p:cSld name="1_Рисунок с подписью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56488" y="124477"/>
            <a:ext cx="1574789" cy="68718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5"/>
          <p:cNvSpPr/>
          <p:nvPr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5"/>
          <p:cNvSpPr txBox="1"/>
          <p:nvPr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25"/>
          <p:cNvCxnSpPr/>
          <p:nvPr/>
        </p:nvCxnSpPr>
        <p:spPr>
          <a:xfrm>
            <a:off x="1258529" y="6571637"/>
            <a:ext cx="2303433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2" name="Google Shape;92;p25"/>
          <p:cNvSpPr txBox="1"/>
          <p:nvPr>
            <p:ph type="title"/>
          </p:nvPr>
        </p:nvSpPr>
        <p:spPr>
          <a:xfrm>
            <a:off x="900000" y="864000"/>
            <a:ext cx="9627700" cy="740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5"/>
          <p:cNvSpPr/>
          <p:nvPr>
            <p:ph idx="2" type="pic"/>
          </p:nvPr>
        </p:nvSpPr>
        <p:spPr>
          <a:xfrm>
            <a:off x="4340995" y="1674796"/>
            <a:ext cx="3638348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5"/>
          <p:cNvSpPr txBox="1"/>
          <p:nvPr>
            <p:ph idx="1" type="body"/>
          </p:nvPr>
        </p:nvSpPr>
        <p:spPr>
          <a:xfrm>
            <a:off x="900113" y="1625000"/>
            <a:ext cx="2916079" cy="430416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5" name="Google Shape;95;p25"/>
          <p:cNvSpPr txBox="1"/>
          <p:nvPr>
            <p:ph idx="10" type="dt"/>
          </p:nvPr>
        </p:nvSpPr>
        <p:spPr>
          <a:xfrm>
            <a:off x="891024" y="7084883"/>
            <a:ext cx="2916079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1" type="ftr"/>
          </p:nvPr>
        </p:nvSpPr>
        <p:spPr>
          <a:xfrm>
            <a:off x="4170567" y="7084884"/>
            <a:ext cx="4374118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165463" y="266377"/>
            <a:ext cx="738132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8" name="Google Shape;98;p25"/>
          <p:cNvSpPr/>
          <p:nvPr>
            <p:ph idx="3" type="pic"/>
          </p:nvPr>
        </p:nvSpPr>
        <p:spPr>
          <a:xfrm>
            <a:off x="8383605" y="1674796"/>
            <a:ext cx="3638348" cy="425436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исунок с подписью">
  <p:cSld name="2_Рисунок с подписью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56488" y="124477"/>
            <a:ext cx="1574789" cy="68718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6"/>
          <p:cNvSpPr/>
          <p:nvPr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6"/>
          <p:cNvSpPr txBox="1"/>
          <p:nvPr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26"/>
          <p:cNvCxnSpPr/>
          <p:nvPr/>
        </p:nvCxnSpPr>
        <p:spPr>
          <a:xfrm>
            <a:off x="1258529" y="6571637"/>
            <a:ext cx="2303433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4" name="Google Shape;104;p26"/>
          <p:cNvSpPr txBox="1"/>
          <p:nvPr>
            <p:ph type="title"/>
          </p:nvPr>
        </p:nvSpPr>
        <p:spPr>
          <a:xfrm>
            <a:off x="892713" y="900000"/>
            <a:ext cx="9627700" cy="740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6"/>
          <p:cNvSpPr/>
          <p:nvPr>
            <p:ph idx="2" type="pic"/>
          </p:nvPr>
        </p:nvSpPr>
        <p:spPr>
          <a:xfrm>
            <a:off x="4340995" y="1674796"/>
            <a:ext cx="2321062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900113" y="1625000"/>
            <a:ext cx="2916079" cy="430416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7" name="Google Shape;107;p26"/>
          <p:cNvSpPr txBox="1"/>
          <p:nvPr>
            <p:ph idx="10" type="dt"/>
          </p:nvPr>
        </p:nvSpPr>
        <p:spPr>
          <a:xfrm>
            <a:off x="891024" y="7084883"/>
            <a:ext cx="2916079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11" type="ftr"/>
          </p:nvPr>
        </p:nvSpPr>
        <p:spPr>
          <a:xfrm>
            <a:off x="4170567" y="7084884"/>
            <a:ext cx="4374118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165463" y="266377"/>
            <a:ext cx="738132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0" name="Google Shape;110;p26"/>
          <p:cNvSpPr/>
          <p:nvPr>
            <p:ph idx="3" type="pic"/>
          </p:nvPr>
        </p:nvSpPr>
        <p:spPr>
          <a:xfrm>
            <a:off x="7019109" y="1674796"/>
            <a:ext cx="2321062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6"/>
          <p:cNvSpPr/>
          <p:nvPr>
            <p:ph idx="4" type="pic"/>
          </p:nvPr>
        </p:nvSpPr>
        <p:spPr>
          <a:xfrm>
            <a:off x="9701349" y="1674796"/>
            <a:ext cx="2321062" cy="425436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Рисунок с подписью">
  <p:cSld name="3_Рисунок с подписью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56488" y="124477"/>
            <a:ext cx="1574789" cy="68718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7"/>
          <p:cNvSpPr/>
          <p:nvPr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7"/>
          <p:cNvSpPr txBox="1"/>
          <p:nvPr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27"/>
          <p:cNvCxnSpPr/>
          <p:nvPr/>
        </p:nvCxnSpPr>
        <p:spPr>
          <a:xfrm>
            <a:off x="1258529" y="6571637"/>
            <a:ext cx="2303433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7" name="Google Shape;117;p27"/>
          <p:cNvSpPr txBox="1"/>
          <p:nvPr>
            <p:ph type="title"/>
          </p:nvPr>
        </p:nvSpPr>
        <p:spPr>
          <a:xfrm>
            <a:off x="892713" y="900000"/>
            <a:ext cx="9627700" cy="740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7"/>
          <p:cNvSpPr/>
          <p:nvPr>
            <p:ph idx="2" type="pic"/>
          </p:nvPr>
        </p:nvSpPr>
        <p:spPr>
          <a:xfrm>
            <a:off x="4340995" y="1674796"/>
            <a:ext cx="2321062" cy="1956678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7"/>
          <p:cNvSpPr txBox="1"/>
          <p:nvPr>
            <p:ph idx="1" type="body"/>
          </p:nvPr>
        </p:nvSpPr>
        <p:spPr>
          <a:xfrm>
            <a:off x="900113" y="1625000"/>
            <a:ext cx="2916079" cy="430416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0" name="Google Shape;120;p27"/>
          <p:cNvSpPr txBox="1"/>
          <p:nvPr>
            <p:ph idx="10" type="dt"/>
          </p:nvPr>
        </p:nvSpPr>
        <p:spPr>
          <a:xfrm>
            <a:off x="891024" y="7084883"/>
            <a:ext cx="2916079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7"/>
          <p:cNvSpPr txBox="1"/>
          <p:nvPr>
            <p:ph idx="11" type="ftr"/>
          </p:nvPr>
        </p:nvSpPr>
        <p:spPr>
          <a:xfrm>
            <a:off x="4170567" y="7084884"/>
            <a:ext cx="4374118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7"/>
          <p:cNvSpPr txBox="1"/>
          <p:nvPr>
            <p:ph idx="12" type="sldNum"/>
          </p:nvPr>
        </p:nvSpPr>
        <p:spPr>
          <a:xfrm>
            <a:off x="165463" y="266377"/>
            <a:ext cx="738132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3" name="Google Shape;123;p27"/>
          <p:cNvSpPr/>
          <p:nvPr>
            <p:ph idx="3" type="pic"/>
          </p:nvPr>
        </p:nvSpPr>
        <p:spPr>
          <a:xfrm>
            <a:off x="7019109" y="1674796"/>
            <a:ext cx="2321062" cy="1956678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7"/>
          <p:cNvSpPr/>
          <p:nvPr>
            <p:ph idx="4" type="pic"/>
          </p:nvPr>
        </p:nvSpPr>
        <p:spPr>
          <a:xfrm>
            <a:off x="9701349" y="1674796"/>
            <a:ext cx="2321062" cy="1956678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7"/>
          <p:cNvSpPr/>
          <p:nvPr>
            <p:ph idx="5" type="pic"/>
          </p:nvPr>
        </p:nvSpPr>
        <p:spPr>
          <a:xfrm>
            <a:off x="4340995" y="4130613"/>
            <a:ext cx="2321062" cy="1956678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7"/>
          <p:cNvSpPr/>
          <p:nvPr>
            <p:ph idx="6" type="pic"/>
          </p:nvPr>
        </p:nvSpPr>
        <p:spPr>
          <a:xfrm>
            <a:off x="7019109" y="4130613"/>
            <a:ext cx="2321062" cy="1956678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7"/>
          <p:cNvSpPr/>
          <p:nvPr>
            <p:ph idx="7" type="pic"/>
          </p:nvPr>
        </p:nvSpPr>
        <p:spPr>
          <a:xfrm>
            <a:off x="9701349" y="4130613"/>
            <a:ext cx="2321062" cy="195667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56488" y="124477"/>
            <a:ext cx="1574789" cy="68718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8"/>
          <p:cNvSpPr/>
          <p:nvPr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8"/>
          <p:cNvSpPr txBox="1"/>
          <p:nvPr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28"/>
          <p:cNvCxnSpPr/>
          <p:nvPr/>
        </p:nvCxnSpPr>
        <p:spPr>
          <a:xfrm>
            <a:off x="1258529" y="6571637"/>
            <a:ext cx="2303433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3" name="Google Shape;133;p28"/>
          <p:cNvSpPr txBox="1"/>
          <p:nvPr>
            <p:ph type="title"/>
          </p:nvPr>
        </p:nvSpPr>
        <p:spPr>
          <a:xfrm>
            <a:off x="884274" y="1705385"/>
            <a:ext cx="11178302" cy="2845473"/>
          </a:xfrm>
          <a:prstGeom prst="rect">
            <a:avLst/>
          </a:prstGeom>
          <a:noFill/>
          <a:ln>
            <a:noFill/>
          </a:ln>
        </p:spPr>
        <p:txBody>
          <a:bodyPr anchorCtr="0" anchor="b" bIns="36000" lIns="36000" spcFirstLastPara="1" rIns="36000" wrap="square" tIns="36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8"/>
          <p:cNvSpPr txBox="1"/>
          <p:nvPr>
            <p:ph idx="1" type="body"/>
          </p:nvPr>
        </p:nvSpPr>
        <p:spPr>
          <a:xfrm>
            <a:off x="884274" y="4577778"/>
            <a:ext cx="11178302" cy="149636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28"/>
          <p:cNvSpPr txBox="1"/>
          <p:nvPr>
            <p:ph idx="10" type="dt"/>
          </p:nvPr>
        </p:nvSpPr>
        <p:spPr>
          <a:xfrm>
            <a:off x="891024" y="7084883"/>
            <a:ext cx="2916079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8"/>
          <p:cNvSpPr txBox="1"/>
          <p:nvPr>
            <p:ph idx="11" type="ftr"/>
          </p:nvPr>
        </p:nvSpPr>
        <p:spPr>
          <a:xfrm>
            <a:off x="4170567" y="7084884"/>
            <a:ext cx="4374118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8"/>
          <p:cNvSpPr txBox="1"/>
          <p:nvPr>
            <p:ph idx="12" type="sldNum"/>
          </p:nvPr>
        </p:nvSpPr>
        <p:spPr>
          <a:xfrm>
            <a:off x="165463" y="266377"/>
            <a:ext cx="738132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56488" y="124477"/>
            <a:ext cx="1574789" cy="68718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9"/>
          <p:cNvSpPr/>
          <p:nvPr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9"/>
          <p:cNvSpPr txBox="1"/>
          <p:nvPr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29"/>
          <p:cNvCxnSpPr/>
          <p:nvPr/>
        </p:nvCxnSpPr>
        <p:spPr>
          <a:xfrm>
            <a:off x="1258529" y="6571637"/>
            <a:ext cx="2303433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3" name="Google Shape;143;p29"/>
          <p:cNvSpPr txBox="1"/>
          <p:nvPr>
            <p:ph type="title"/>
          </p:nvPr>
        </p:nvSpPr>
        <p:spPr>
          <a:xfrm>
            <a:off x="891024" y="900000"/>
            <a:ext cx="9576679" cy="714358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9"/>
          <p:cNvSpPr txBox="1"/>
          <p:nvPr>
            <p:ph idx="10" type="dt"/>
          </p:nvPr>
        </p:nvSpPr>
        <p:spPr>
          <a:xfrm>
            <a:off x="891024" y="7084883"/>
            <a:ext cx="2916079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9"/>
          <p:cNvSpPr txBox="1"/>
          <p:nvPr>
            <p:ph idx="11" type="ftr"/>
          </p:nvPr>
        </p:nvSpPr>
        <p:spPr>
          <a:xfrm>
            <a:off x="4170567" y="7084884"/>
            <a:ext cx="4374118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9"/>
          <p:cNvSpPr txBox="1"/>
          <p:nvPr>
            <p:ph idx="12" type="sldNum"/>
          </p:nvPr>
        </p:nvSpPr>
        <p:spPr>
          <a:xfrm>
            <a:off x="165463" y="266377"/>
            <a:ext cx="738132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rgbClr val="7F7F7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/>
          <p:nvPr>
            <p:ph type="ctrTitle"/>
          </p:nvPr>
        </p:nvSpPr>
        <p:spPr>
          <a:xfrm>
            <a:off x="916864" y="1616636"/>
            <a:ext cx="10423442" cy="2200943"/>
          </a:xfrm>
          <a:prstGeom prst="rect">
            <a:avLst/>
          </a:prstGeom>
          <a:noFill/>
          <a:ln>
            <a:noFill/>
          </a:ln>
        </p:spPr>
        <p:txBody>
          <a:bodyPr anchorCtr="0" anchor="b" bIns="36000" lIns="36000" spcFirstLastPara="1" rIns="36000" wrap="square" tIns="36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0"/>
          <p:cNvSpPr txBox="1"/>
          <p:nvPr>
            <p:ph idx="1" type="subTitle"/>
          </p:nvPr>
        </p:nvSpPr>
        <p:spPr>
          <a:xfrm>
            <a:off x="916864" y="3971150"/>
            <a:ext cx="10423443" cy="81967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lvl="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0" name="Google Shape;150;p30"/>
          <p:cNvSpPr txBox="1"/>
          <p:nvPr>
            <p:ph idx="10" type="dt"/>
          </p:nvPr>
        </p:nvSpPr>
        <p:spPr>
          <a:xfrm>
            <a:off x="891024" y="7084883"/>
            <a:ext cx="2916079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0"/>
          <p:cNvSpPr txBox="1"/>
          <p:nvPr>
            <p:ph idx="11" type="ftr"/>
          </p:nvPr>
        </p:nvSpPr>
        <p:spPr>
          <a:xfrm>
            <a:off x="4170567" y="7084884"/>
            <a:ext cx="4374118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2" name="Google Shape;152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70520" y="0"/>
            <a:ext cx="4189830" cy="6840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760" y="329338"/>
            <a:ext cx="1862895" cy="8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0"/>
          <p:cNvSpPr txBox="1"/>
          <p:nvPr/>
        </p:nvSpPr>
        <p:spPr>
          <a:xfrm rot="-5400002">
            <a:off x="11761283" y="930593"/>
            <a:ext cx="6906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/>
          </a:p>
        </p:txBody>
      </p:sp>
      <p:cxnSp>
        <p:nvCxnSpPr>
          <p:cNvPr id="155" name="Google Shape;155;p30"/>
          <p:cNvCxnSpPr/>
          <p:nvPr/>
        </p:nvCxnSpPr>
        <p:spPr>
          <a:xfrm>
            <a:off x="12128268" y="1404850"/>
            <a:ext cx="0" cy="2302626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6" name="Google Shape;156;p30"/>
          <p:cNvSpPr txBox="1"/>
          <p:nvPr/>
        </p:nvSpPr>
        <p:spPr>
          <a:xfrm rot="-5400002">
            <a:off x="11574784" y="5590478"/>
            <a:ext cx="10971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РАНХиГС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Титульный слайд">
  <p:cSld name="8_Титульный слайд">
    <p:bg>
      <p:bgPr>
        <a:solidFill>
          <a:srgbClr val="A5A5A5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>
            <p:ph type="ctrTitle"/>
          </p:nvPr>
        </p:nvSpPr>
        <p:spPr>
          <a:xfrm>
            <a:off x="916864" y="1616636"/>
            <a:ext cx="10423442" cy="2200943"/>
          </a:xfrm>
          <a:prstGeom prst="rect">
            <a:avLst/>
          </a:prstGeom>
          <a:noFill/>
          <a:ln>
            <a:noFill/>
          </a:ln>
        </p:spPr>
        <p:txBody>
          <a:bodyPr anchorCtr="0" anchor="b" bIns="36000" lIns="36000" spcFirstLastPara="1" rIns="36000" wrap="square" tIns="36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1"/>
          <p:cNvSpPr txBox="1"/>
          <p:nvPr>
            <p:ph idx="1" type="subTitle"/>
          </p:nvPr>
        </p:nvSpPr>
        <p:spPr>
          <a:xfrm>
            <a:off x="916864" y="3971150"/>
            <a:ext cx="10423443" cy="81967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lvl="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0" name="Google Shape;160;p31"/>
          <p:cNvSpPr txBox="1"/>
          <p:nvPr>
            <p:ph idx="10" type="dt"/>
          </p:nvPr>
        </p:nvSpPr>
        <p:spPr>
          <a:xfrm>
            <a:off x="891024" y="7084883"/>
            <a:ext cx="2916079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1"/>
          <p:cNvSpPr txBox="1"/>
          <p:nvPr>
            <p:ph idx="11" type="ftr"/>
          </p:nvPr>
        </p:nvSpPr>
        <p:spPr>
          <a:xfrm>
            <a:off x="4170567" y="7084884"/>
            <a:ext cx="4374118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2" name="Google Shape;162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70520" y="0"/>
            <a:ext cx="4189830" cy="6840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760" y="329338"/>
            <a:ext cx="1862895" cy="8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1"/>
          <p:cNvSpPr txBox="1"/>
          <p:nvPr/>
        </p:nvSpPr>
        <p:spPr>
          <a:xfrm rot="-5400002">
            <a:off x="11761283" y="930593"/>
            <a:ext cx="6906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/>
          </a:p>
        </p:txBody>
      </p:sp>
      <p:cxnSp>
        <p:nvCxnSpPr>
          <p:cNvPr id="165" name="Google Shape;165;p31"/>
          <p:cNvCxnSpPr/>
          <p:nvPr/>
        </p:nvCxnSpPr>
        <p:spPr>
          <a:xfrm>
            <a:off x="12128268" y="1404850"/>
            <a:ext cx="0" cy="2302626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6" name="Google Shape;166;p31"/>
          <p:cNvSpPr txBox="1"/>
          <p:nvPr/>
        </p:nvSpPr>
        <p:spPr>
          <a:xfrm rot="-5400002">
            <a:off x="11574784" y="5590478"/>
            <a:ext cx="10971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РАНХиГС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91024" y="900000"/>
            <a:ext cx="9576679" cy="714358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91024" y="1820976"/>
            <a:ext cx="11205726" cy="4340259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6D6D6D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91024" y="7084883"/>
            <a:ext cx="2916079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170567" y="7084884"/>
            <a:ext cx="4374118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165463" y="266377"/>
            <a:ext cx="738132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"/>
          <p:cNvSpPr txBox="1"/>
          <p:nvPr>
            <p:ph type="ctrTitle"/>
          </p:nvPr>
        </p:nvSpPr>
        <p:spPr>
          <a:xfrm>
            <a:off x="916864" y="1616634"/>
            <a:ext cx="10423442" cy="2200943"/>
          </a:xfrm>
          <a:prstGeom prst="rect">
            <a:avLst/>
          </a:prstGeom>
          <a:noFill/>
          <a:ln>
            <a:noFill/>
          </a:ln>
        </p:spPr>
        <p:txBody>
          <a:bodyPr anchorCtr="0" anchor="b" bIns="36000" lIns="36000" spcFirstLastPara="1" rIns="36000" wrap="square" tIns="36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ru-RU" sz="4000"/>
              <a:t>СЕГМЕНТАЦИЯ ПРИ ДИСБАЛАНСЕ КЛАССОВ</a:t>
            </a:r>
            <a:endParaRPr sz="4000"/>
          </a:p>
        </p:txBody>
      </p:sp>
      <p:sp>
        <p:nvSpPr>
          <p:cNvPr id="172" name="Google Shape;172;p1"/>
          <p:cNvSpPr txBox="1"/>
          <p:nvPr/>
        </p:nvSpPr>
        <p:spPr>
          <a:xfrm>
            <a:off x="913800" y="6125935"/>
            <a:ext cx="21469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Москва, 2026</a:t>
            </a:r>
            <a:endParaRPr/>
          </a:p>
        </p:txBody>
      </p:sp>
      <p:sp>
        <p:nvSpPr>
          <p:cNvPr id="173" name="Google Shape;173;p1"/>
          <p:cNvSpPr txBox="1"/>
          <p:nvPr/>
        </p:nvSpPr>
        <p:spPr>
          <a:xfrm>
            <a:off x="913800" y="5347800"/>
            <a:ext cx="53706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ru-RU">
                <a:solidFill>
                  <a:schemeClr val="lt1"/>
                </a:solidFill>
              </a:rPr>
              <a:t>Глуходед Мария, Кочукова Тамара, Маликова Ульяна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"/>
          <p:cNvSpPr txBox="1"/>
          <p:nvPr/>
        </p:nvSpPr>
        <p:spPr>
          <a:xfrm>
            <a:off x="1232800" y="2706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Постановка задачи </a:t>
            </a:r>
            <a:endParaRPr/>
          </a:p>
        </p:txBody>
      </p:sp>
      <p:sp>
        <p:nvSpPr>
          <p:cNvPr id="179" name="Google Shape;179;p2"/>
          <p:cNvSpPr txBox="1"/>
          <p:nvPr/>
        </p:nvSpPr>
        <p:spPr>
          <a:xfrm>
            <a:off x="1232800" y="1348325"/>
            <a:ext cx="4539600" cy="4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-RU" sz="2100">
                <a:solidFill>
                  <a:schemeClr val="dk1"/>
                </a:solidFill>
              </a:rPr>
              <a:t>ПРОБЛЕМА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500">
                <a:solidFill>
                  <a:schemeClr val="dk1"/>
                </a:solidFill>
              </a:rPr>
              <a:t>Сегментация при сильном дисбалансе классов</a:t>
            </a:r>
            <a:br>
              <a:rPr b="1" lang="ru-RU" sz="1500">
                <a:solidFill>
                  <a:schemeClr val="dk1"/>
                </a:solidFill>
              </a:rPr>
            </a:br>
            <a:r>
              <a:rPr lang="ru-RU" sz="1500">
                <a:solidFill>
                  <a:schemeClr val="dk1"/>
                </a:solidFill>
              </a:rPr>
              <a:t>— датасет: DRIVE, сосуды сетчатки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-RU" sz="1500">
                <a:solidFill>
                  <a:schemeClr val="dk1"/>
                </a:solidFill>
              </a:rPr>
              <a:t>Фон доминирует по числу пикселей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-RU" sz="1500">
                <a:solidFill>
                  <a:schemeClr val="dk1"/>
                </a:solidFill>
              </a:rPr>
              <a:t>Класс сосудов занимает малую область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-RU" sz="1500">
                <a:solidFill>
                  <a:schemeClr val="dk1"/>
                </a:solidFill>
              </a:rPr>
              <a:t>Тонкие сосуды теряются чаще всего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-RU" sz="1500">
                <a:solidFill>
                  <a:schemeClr val="dk1"/>
                </a:solidFill>
              </a:rPr>
              <a:t>Accuracy может быть высокой даже при плохой сегментации сосудов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-RU" sz="1500">
                <a:solidFill>
                  <a:schemeClr val="dk1"/>
                </a:solidFill>
              </a:rPr>
              <a:t>Baseline-модель смещается в сторону фона и крупных сосудов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</a:endParaRPr>
          </a:p>
        </p:txBody>
      </p:sp>
      <p:sp>
        <p:nvSpPr>
          <p:cNvPr id="180" name="Google Shape;180;p2"/>
          <p:cNvSpPr txBox="1"/>
          <p:nvPr/>
        </p:nvSpPr>
        <p:spPr>
          <a:xfrm>
            <a:off x="6655000" y="1348325"/>
            <a:ext cx="4762500" cy="4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</a:rPr>
              <a:t>ЦЕЛЬ ПРОЕКТА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dk1"/>
                </a:solidFill>
              </a:rPr>
              <a:t>Повысить качество сегментации малого класса</a:t>
            </a:r>
            <a:br>
              <a:rPr b="1" lang="ru-RU">
                <a:solidFill>
                  <a:schemeClr val="dk1"/>
                </a:solidFill>
              </a:rPr>
            </a:br>
            <a:r>
              <a:rPr lang="ru-RU">
                <a:solidFill>
                  <a:schemeClr val="dk1"/>
                </a:solidFill>
              </a:rPr>
              <a:t>— через специальные методы обучения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Взять DRIVE как медицинский датасет с дисбалансом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Обучить baseline U-Net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Добавить методы борьбы с imbalance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Проверить SA-UNetv2 и joint pixel/segment-level loss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Сравнить Dice, IoU, Recall, Precision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Выбрать модель, которая лучше сохраняет тонкую сосудистую структуру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"/>
          <p:cNvSpPr txBox="1"/>
          <p:nvPr/>
        </p:nvSpPr>
        <p:spPr>
          <a:xfrm>
            <a:off x="1232800" y="2706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Датасет и EDA</a:t>
            </a:r>
            <a:endParaRPr/>
          </a:p>
        </p:txBody>
      </p:sp>
      <p:sp>
        <p:nvSpPr>
          <p:cNvPr id="186" name="Google Shape;186;p3"/>
          <p:cNvSpPr txBox="1"/>
          <p:nvPr/>
        </p:nvSpPr>
        <p:spPr>
          <a:xfrm>
            <a:off x="1012675" y="1274075"/>
            <a:ext cx="5122800" cy="3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</a:rPr>
              <a:t>ДАТАСЕТ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dk1"/>
                </a:solidFill>
              </a:rPr>
              <a:t>DRIVE: Digital Retinal Images for Vessel Extraction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40 цветных изображений глазного дна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В обучающей части: </a:t>
            </a:r>
            <a:r>
              <a:rPr b="1" lang="ru-RU">
                <a:solidFill>
                  <a:schemeClr val="dk1"/>
                </a:solidFill>
              </a:rPr>
              <a:t>20 изображений + 20 binary masks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Размер изображения: </a:t>
            </a:r>
            <a:r>
              <a:rPr b="1" lang="ru-RU">
                <a:solidFill>
                  <a:schemeClr val="dk1"/>
                </a:solidFill>
              </a:rPr>
              <a:t>584 × 565 px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Задача: классифицировать каждый пиксель как </a:t>
            </a:r>
            <a:r>
              <a:rPr b="1" lang="ru-RU">
                <a:solidFill>
                  <a:schemeClr val="dk1"/>
                </a:solidFill>
              </a:rPr>
              <a:t>vessel / background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Используется </a:t>
            </a:r>
            <a:r>
              <a:rPr b="1" lang="ru-RU">
                <a:solidFill>
                  <a:schemeClr val="dk1"/>
                </a:solidFill>
              </a:rPr>
              <a:t>FOV mask</a:t>
            </a:r>
            <a:r>
              <a:rPr lang="ru-RU">
                <a:solidFill>
                  <a:schemeClr val="dk1"/>
                </a:solidFill>
              </a:rPr>
              <a:t>, чтобы не учитывать чёрную область вне сетчатки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Для экспериментов train/val split: </a:t>
            </a:r>
            <a:r>
              <a:rPr b="1" lang="ru-RU">
                <a:solidFill>
                  <a:schemeClr val="dk1"/>
                </a:solidFill>
              </a:rPr>
              <a:t>16 / 4 изображения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1012675" y="833463"/>
            <a:ext cx="603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ru-RU" sz="1100">
                <a:solidFill>
                  <a:schemeClr val="dk1"/>
                </a:solidFill>
              </a:rPr>
              <a:t>DRIVE выбран как медицинский кейс сегментации при сильном дисбалансе классов</a:t>
            </a:r>
            <a:endParaRPr i="1" sz="1100">
              <a:solidFill>
                <a:schemeClr val="dk1"/>
              </a:solidFill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6413400" y="1231250"/>
            <a:ext cx="5282100" cy="3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</a:rPr>
              <a:t>EDA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dk1"/>
                </a:solidFill>
              </a:rPr>
              <a:t>Анализ подтвердил сильный дисбаланс классов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По всему изображению сосуды занимают около </a:t>
            </a:r>
            <a:r>
              <a:rPr b="1" lang="ru-RU">
                <a:solidFill>
                  <a:schemeClr val="dk1"/>
                </a:solidFill>
              </a:rPr>
              <a:t>8.6%</a:t>
            </a:r>
            <a:r>
              <a:rPr lang="ru-RU">
                <a:solidFill>
                  <a:schemeClr val="dk1"/>
                </a:solidFill>
              </a:rPr>
              <a:t> пикселей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Внутри FOV сосуды занимают около </a:t>
            </a:r>
            <a:r>
              <a:rPr b="1" lang="ru-RU">
                <a:solidFill>
                  <a:schemeClr val="dk1"/>
                </a:solidFill>
              </a:rPr>
              <a:t>12.5%</a:t>
            </a:r>
            <a:r>
              <a:rPr lang="ru-RU">
                <a:solidFill>
                  <a:schemeClr val="dk1"/>
                </a:solidFill>
              </a:rPr>
              <a:t>, фон — </a:t>
            </a:r>
            <a:r>
              <a:rPr b="1" lang="ru-RU">
                <a:solidFill>
                  <a:schemeClr val="dk1"/>
                </a:solidFill>
              </a:rPr>
              <a:t>87.5%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Соотношение background / foreground внутри FOV: примерно </a:t>
            </a:r>
            <a:r>
              <a:rPr b="1" lang="ru-RU">
                <a:solidFill>
                  <a:schemeClr val="dk1"/>
                </a:solidFill>
              </a:rPr>
              <a:t>7 : 1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Доля сосудов различается по изображениям: </a:t>
            </a:r>
            <a:r>
              <a:rPr b="1" lang="ru-RU">
                <a:solidFill>
                  <a:schemeClr val="dk1"/>
                </a:solidFill>
              </a:rPr>
              <a:t>8.7%–16.8%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-RU">
                <a:solidFill>
                  <a:schemeClr val="dk1"/>
                </a:solidFill>
              </a:rPr>
              <a:t>Accuracy может быть завышена из-за доминирования фона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Основные метрики: </a:t>
            </a:r>
            <a:r>
              <a:rPr b="1" lang="ru-RU">
                <a:solidFill>
                  <a:schemeClr val="dk1"/>
                </a:solidFill>
              </a:rPr>
              <a:t>Dice, IoU, Precision, Recall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89" name="Google Shape;189;p3" title="Снимок экрана 2026-06-09 в 23.38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275" y="4653175"/>
            <a:ext cx="4587602" cy="116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"/>
          <p:cNvSpPr txBox="1"/>
          <p:nvPr/>
        </p:nvSpPr>
        <p:spPr>
          <a:xfrm>
            <a:off x="1232800" y="2706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Общий pipeline </a:t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1951300" y="448829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2483975" y="2911141"/>
            <a:ext cx="1613400" cy="186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</a:rPr>
              <a:t>Green channel + CLAHE → resize + normalization</a:t>
            </a:r>
            <a:endParaRPr sz="1100">
              <a:highlight>
                <a:schemeClr val="lt1"/>
              </a:highlight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4727375" y="2911141"/>
            <a:ext cx="1613400" cy="186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</a:rPr>
              <a:t>U-Net ResNet34 и SA-UNetv2 </a:t>
            </a:r>
            <a:endParaRPr sz="1200">
              <a:highlight>
                <a:schemeClr val="lt1"/>
              </a:highlight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6923975" y="2911141"/>
            <a:ext cx="1519800" cy="186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</a:rPr>
              <a:t>Weighted BCE, Focal, Tversky, BCE+MCC, Joint segment-level</a:t>
            </a:r>
            <a:endParaRPr sz="1200">
              <a:highlight>
                <a:schemeClr val="lt1"/>
              </a:highlight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9049575" y="2857182"/>
            <a:ext cx="1613400" cy="1914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</a:rPr>
              <a:t>Все комбинации model + loss обучаются в одинаковых условиях</a:t>
            </a:r>
            <a:endParaRPr sz="1000">
              <a:highlight>
                <a:schemeClr val="lt1"/>
              </a:highlight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11175175" y="2857182"/>
            <a:ext cx="1613400" cy="1914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</a:rPr>
              <a:t>Dice, IoU, Precision, Recall, Accuracy → выбор лучшего метода</a:t>
            </a:r>
            <a:endParaRPr sz="1000">
              <a:highlight>
                <a:schemeClr val="lt1"/>
              </a:highlight>
            </a:endParaRPr>
          </a:p>
        </p:txBody>
      </p:sp>
      <p:sp>
        <p:nvSpPr>
          <p:cNvPr id="201" name="Google Shape;201;p4"/>
          <p:cNvSpPr txBox="1"/>
          <p:nvPr/>
        </p:nvSpPr>
        <p:spPr>
          <a:xfrm>
            <a:off x="2639225" y="2322338"/>
            <a:ext cx="130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</a:rPr>
              <a:t>Preprocessing</a:t>
            </a:r>
            <a:endParaRPr b="1"/>
          </a:p>
        </p:txBody>
      </p:sp>
      <p:sp>
        <p:nvSpPr>
          <p:cNvPr id="202" name="Google Shape;202;p4"/>
          <p:cNvSpPr txBox="1"/>
          <p:nvPr/>
        </p:nvSpPr>
        <p:spPr>
          <a:xfrm>
            <a:off x="5129450" y="2322338"/>
            <a:ext cx="82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</a:rPr>
              <a:t>Models</a:t>
            </a:r>
            <a:r>
              <a:rPr b="1" lang="ru-RU" sz="1200">
                <a:solidFill>
                  <a:schemeClr val="dk1"/>
                </a:solidFill>
              </a:rPr>
              <a:t> </a:t>
            </a:r>
            <a:endParaRPr b="1"/>
          </a:p>
        </p:txBody>
      </p:sp>
      <p:sp>
        <p:nvSpPr>
          <p:cNvPr id="203" name="Google Shape;203;p4"/>
          <p:cNvSpPr txBox="1"/>
          <p:nvPr/>
        </p:nvSpPr>
        <p:spPr>
          <a:xfrm>
            <a:off x="6877174" y="2322338"/>
            <a:ext cx="151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</a:rPr>
              <a:t>Loss experiments</a:t>
            </a:r>
            <a:endParaRPr b="1"/>
          </a:p>
        </p:txBody>
      </p:sp>
      <p:sp>
        <p:nvSpPr>
          <p:cNvPr id="204" name="Google Shape;204;p4"/>
          <p:cNvSpPr txBox="1"/>
          <p:nvPr/>
        </p:nvSpPr>
        <p:spPr>
          <a:xfrm>
            <a:off x="9049600" y="2295350"/>
            <a:ext cx="151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</a:rPr>
              <a:t>Extra experiments</a:t>
            </a:r>
            <a:endParaRPr b="1"/>
          </a:p>
        </p:txBody>
      </p:sp>
      <p:sp>
        <p:nvSpPr>
          <p:cNvPr id="205" name="Google Shape;205;p4"/>
          <p:cNvSpPr txBox="1"/>
          <p:nvPr/>
        </p:nvSpPr>
        <p:spPr>
          <a:xfrm>
            <a:off x="11381525" y="2295350"/>
            <a:ext cx="101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</a:rPr>
              <a:t>Evaluation</a:t>
            </a:r>
            <a:endParaRPr b="1"/>
          </a:p>
        </p:txBody>
      </p:sp>
      <p:cxnSp>
        <p:nvCxnSpPr>
          <p:cNvPr id="206" name="Google Shape;206;p4"/>
          <p:cNvCxnSpPr>
            <a:stCxn id="196" idx="3"/>
            <a:endCxn id="197" idx="1"/>
          </p:cNvCxnSpPr>
          <p:nvPr/>
        </p:nvCxnSpPr>
        <p:spPr>
          <a:xfrm>
            <a:off x="4097375" y="3841291"/>
            <a:ext cx="63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4"/>
          <p:cNvCxnSpPr/>
          <p:nvPr/>
        </p:nvCxnSpPr>
        <p:spPr>
          <a:xfrm>
            <a:off x="6270575" y="3899483"/>
            <a:ext cx="63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4"/>
          <p:cNvCxnSpPr/>
          <p:nvPr/>
        </p:nvCxnSpPr>
        <p:spPr>
          <a:xfrm>
            <a:off x="8443775" y="3899483"/>
            <a:ext cx="63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4"/>
          <p:cNvCxnSpPr/>
          <p:nvPr/>
        </p:nvCxnSpPr>
        <p:spPr>
          <a:xfrm>
            <a:off x="10569375" y="3845524"/>
            <a:ext cx="63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4"/>
          <p:cNvSpPr txBox="1"/>
          <p:nvPr/>
        </p:nvSpPr>
        <p:spPr>
          <a:xfrm>
            <a:off x="-300437" y="44916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4"/>
          <p:cNvSpPr/>
          <p:nvPr/>
        </p:nvSpPr>
        <p:spPr>
          <a:xfrm>
            <a:off x="232238" y="2911850"/>
            <a:ext cx="1613400" cy="1863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</a:rPr>
              <a:t>DRIVE images + GT masks → анализ доли сосудов и фона</a:t>
            </a:r>
            <a:endParaRPr sz="1100">
              <a:highlight>
                <a:schemeClr val="lt1"/>
              </a:highlight>
            </a:endParaRPr>
          </a:p>
        </p:txBody>
      </p:sp>
      <p:sp>
        <p:nvSpPr>
          <p:cNvPr id="212" name="Google Shape;212;p4"/>
          <p:cNvSpPr txBox="1"/>
          <p:nvPr/>
        </p:nvSpPr>
        <p:spPr>
          <a:xfrm>
            <a:off x="410513" y="2322688"/>
            <a:ext cx="130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</a:rPr>
              <a:t>Dataset &amp; EDA</a:t>
            </a:r>
            <a:endParaRPr b="1"/>
          </a:p>
        </p:txBody>
      </p:sp>
      <p:cxnSp>
        <p:nvCxnSpPr>
          <p:cNvPr id="213" name="Google Shape;213;p4"/>
          <p:cNvCxnSpPr>
            <a:stCxn id="211" idx="3"/>
          </p:cNvCxnSpPr>
          <p:nvPr/>
        </p:nvCxnSpPr>
        <p:spPr>
          <a:xfrm>
            <a:off x="1845638" y="3843500"/>
            <a:ext cx="63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" name="Google Shape;214;p4"/>
          <p:cNvSpPr/>
          <p:nvPr/>
        </p:nvSpPr>
        <p:spPr>
          <a:xfrm>
            <a:off x="832400" y="1733525"/>
            <a:ext cx="413100" cy="369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lt1"/>
                </a:solidFill>
              </a:rPr>
              <a:t>1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3084125" y="1733525"/>
            <a:ext cx="413100" cy="369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lt1"/>
                </a:solidFill>
              </a:rPr>
              <a:t>2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5335850" y="1733525"/>
            <a:ext cx="413100" cy="369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lt1"/>
                </a:solidFill>
              </a:rPr>
              <a:t>3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7430525" y="1733525"/>
            <a:ext cx="413100" cy="369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lt1"/>
                </a:solidFill>
              </a:rPr>
              <a:t>4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9649725" y="1733525"/>
            <a:ext cx="413100" cy="369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lt1"/>
                </a:solidFill>
              </a:rPr>
              <a:t>5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11683325" y="1733525"/>
            <a:ext cx="413100" cy="369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lt1"/>
                </a:solidFill>
              </a:rPr>
              <a:t>6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220" name="Google Shape;220;p4"/>
          <p:cNvSpPr txBox="1"/>
          <p:nvPr/>
        </p:nvSpPr>
        <p:spPr>
          <a:xfrm>
            <a:off x="1754600" y="1190625"/>
            <a:ext cx="4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"/>
          <p:cNvSpPr txBox="1"/>
          <p:nvPr/>
        </p:nvSpPr>
        <p:spPr>
          <a:xfrm>
            <a:off x="1232800" y="2706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Baseline</a:t>
            </a: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1143856" y="1333500"/>
            <a:ext cx="4226700" cy="3974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"/>
          <p:cNvSpPr txBox="1"/>
          <p:nvPr/>
        </p:nvSpPr>
        <p:spPr>
          <a:xfrm>
            <a:off x="1686081" y="1797473"/>
            <a:ext cx="5061900" cy="3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-RU" sz="3000">
                <a:solidFill>
                  <a:schemeClr val="accent1"/>
                </a:solidFill>
              </a:rPr>
              <a:t>Baseline model</a:t>
            </a:r>
            <a:endParaRPr b="1" sz="3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500">
                <a:solidFill>
                  <a:schemeClr val="dk1"/>
                </a:solidFill>
              </a:rPr>
              <a:t>U-Net + ResNet34 encoder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300">
                <a:solidFill>
                  <a:srgbClr val="434343"/>
                </a:solidFill>
              </a:rPr>
              <a:t>Input:</a:t>
            </a:r>
            <a:r>
              <a:rPr lang="ru-RU" sz="1300">
                <a:solidFill>
                  <a:srgbClr val="6D6D6D"/>
                </a:solidFill>
              </a:rPr>
              <a:t> RGB image</a:t>
            </a:r>
            <a:br>
              <a:rPr lang="ru-RU" sz="1300">
                <a:solidFill>
                  <a:srgbClr val="6D6D6D"/>
                </a:solidFill>
              </a:rPr>
            </a:br>
            <a:r>
              <a:rPr b="1" lang="ru-RU" sz="1300">
                <a:solidFill>
                  <a:srgbClr val="434343"/>
                </a:solidFill>
              </a:rPr>
              <a:t>Output:</a:t>
            </a:r>
            <a:r>
              <a:rPr lang="ru-RU" sz="1300">
                <a:solidFill>
                  <a:srgbClr val="6D6D6D"/>
                </a:solidFill>
              </a:rPr>
              <a:t> vessel mask</a:t>
            </a:r>
            <a:br>
              <a:rPr lang="ru-RU" sz="1300">
                <a:solidFill>
                  <a:srgbClr val="6D6D6D"/>
                </a:solidFill>
              </a:rPr>
            </a:br>
            <a:r>
              <a:rPr b="1" lang="ru-RU" sz="1300">
                <a:solidFill>
                  <a:srgbClr val="434343"/>
                </a:solidFill>
              </a:rPr>
              <a:t>Loss:</a:t>
            </a:r>
            <a:r>
              <a:rPr lang="ru-RU" sz="1300">
                <a:solidFill>
                  <a:srgbClr val="6D6D6D"/>
                </a:solidFill>
              </a:rPr>
              <a:t> BCEWithLogitsLoss</a:t>
            </a:r>
            <a:br>
              <a:rPr lang="ru-RU" sz="1300">
                <a:solidFill>
                  <a:srgbClr val="6D6D6D"/>
                </a:solidFill>
              </a:rPr>
            </a:br>
            <a:r>
              <a:rPr b="1" lang="ru-RU" sz="1300">
                <a:solidFill>
                  <a:srgbClr val="434343"/>
                </a:solidFill>
              </a:rPr>
              <a:t>Metrics:</a:t>
            </a:r>
            <a:r>
              <a:rPr lang="ru-RU" sz="1300">
                <a:solidFill>
                  <a:srgbClr val="6D6D6D"/>
                </a:solidFill>
              </a:rPr>
              <a:t> inside FOV mask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300">
                <a:solidFill>
                  <a:schemeClr val="dk1"/>
                </a:solidFill>
              </a:rPr>
              <a:t>Val Dice: </a:t>
            </a:r>
            <a:r>
              <a:rPr b="1" lang="ru-RU" sz="2000">
                <a:solidFill>
                  <a:schemeClr val="accent1"/>
                </a:solidFill>
              </a:rPr>
              <a:t>0.6978</a:t>
            </a:r>
            <a:br>
              <a:rPr b="1" lang="ru-RU" sz="1300">
                <a:solidFill>
                  <a:schemeClr val="dk1"/>
                </a:solidFill>
              </a:rPr>
            </a:br>
            <a:r>
              <a:rPr b="1" lang="ru-RU" sz="1300">
                <a:solidFill>
                  <a:schemeClr val="dk1"/>
                </a:solidFill>
              </a:rPr>
              <a:t>Val IoU: </a:t>
            </a:r>
            <a:r>
              <a:rPr b="1" lang="ru-RU" sz="2100">
                <a:solidFill>
                  <a:schemeClr val="accent1"/>
                </a:solidFill>
              </a:rPr>
              <a:t>0.5358</a:t>
            </a:r>
            <a:endParaRPr b="1" sz="21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28" name="Google Shape;228;p5"/>
          <p:cNvSpPr txBox="1"/>
          <p:nvPr/>
        </p:nvSpPr>
        <p:spPr>
          <a:xfrm>
            <a:off x="7698638" y="5969698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Схема архитектуры baseline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29" name="Google Shape;22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4869" y="874048"/>
            <a:ext cx="5907568" cy="4878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"/>
          <p:cNvSpPr txBox="1"/>
          <p:nvPr/>
        </p:nvSpPr>
        <p:spPr>
          <a:xfrm>
            <a:off x="1232800" y="270600"/>
            <a:ext cx="452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Preprocessing</a:t>
            </a:r>
            <a:endParaRPr/>
          </a:p>
        </p:txBody>
      </p:sp>
      <p:pic>
        <p:nvPicPr>
          <p:cNvPr id="235" name="Google Shape;23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000" y="1481925"/>
            <a:ext cx="11182350" cy="38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 txBox="1"/>
          <p:nvPr/>
        </p:nvSpPr>
        <p:spPr>
          <a:xfrm>
            <a:off x="1232800" y="270600"/>
            <a:ext cx="590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SA-UNetv2: облегченная U-Net с cross-scale attention</a:t>
            </a:r>
            <a:endParaRPr/>
          </a:p>
        </p:txBody>
      </p:sp>
      <p:graphicFrame>
        <p:nvGraphicFramePr>
          <p:cNvPr id="241" name="Google Shape;241;p10"/>
          <p:cNvGraphicFramePr/>
          <p:nvPr/>
        </p:nvGraphicFramePr>
        <p:xfrm>
          <a:off x="6705213" y="4411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{F677C52A-A53B-4A0B-9984-025432BBF465}</a:tableStyleId>
              </a:tblPr>
              <a:tblGrid>
                <a:gridCol w="1538950"/>
                <a:gridCol w="749750"/>
                <a:gridCol w="1104875"/>
                <a:gridCol w="1065425"/>
              </a:tblGrid>
              <a:tr h="167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/>
                        <a:t>Model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/>
                        <a:t>F1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/>
                        <a:t>Jaccard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/>
                        <a:t>Params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SA-UNet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82.44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70.15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0.54M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SA-UNetv2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chemeClr val="accent1"/>
                          </a:solidFill>
                        </a:rPr>
                        <a:t>82.82</a:t>
                      </a:r>
                      <a:endParaRPr b="1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chemeClr val="accent1"/>
                          </a:solidFill>
                        </a:rPr>
                        <a:t>70.69</a:t>
                      </a:r>
                      <a:endParaRPr b="1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chemeClr val="accent1"/>
                          </a:solidFill>
                        </a:rPr>
                        <a:t>0.26M</a:t>
                      </a:r>
                      <a:endParaRPr b="1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42" name="Google Shape;24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25" y="1012975"/>
            <a:ext cx="5297180" cy="47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0"/>
          <p:cNvSpPr txBox="1"/>
          <p:nvPr/>
        </p:nvSpPr>
        <p:spPr>
          <a:xfrm>
            <a:off x="7004675" y="1012975"/>
            <a:ext cx="3860100" cy="3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</a:rPr>
              <a:t>Cross-scale Spatial Attention объединяет encoder и decoder features и лучше восстанавливает тонкие сосуды.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ru-RU" sz="1300">
                <a:solidFill>
                  <a:schemeClr val="dk1"/>
                </a:solidFill>
              </a:rPr>
            </a:br>
            <a:r>
              <a:rPr lang="ru-RU" sz="1300">
                <a:solidFill>
                  <a:schemeClr val="dk1"/>
                </a:solidFill>
              </a:rPr>
              <a:t>Каналы: </a:t>
            </a:r>
            <a:r>
              <a:rPr b="1" lang="ru-RU" sz="1300">
                <a:solidFill>
                  <a:schemeClr val="dk1"/>
                </a:solidFill>
              </a:rPr>
              <a:t>16–32–48–64</a:t>
            </a:r>
            <a:br>
              <a:rPr b="1" lang="ru-RU" sz="1300">
                <a:solidFill>
                  <a:schemeClr val="dk1"/>
                </a:solidFill>
              </a:rPr>
            </a:br>
            <a:r>
              <a:rPr lang="ru-RU" sz="1300">
                <a:solidFill>
                  <a:schemeClr val="dk1"/>
                </a:solidFill>
              </a:rPr>
              <a:t>Всего </a:t>
            </a:r>
            <a:r>
              <a:rPr b="1" lang="ru-RU" sz="1300">
                <a:solidFill>
                  <a:schemeClr val="accent1"/>
                </a:solidFill>
              </a:rPr>
              <a:t>0.26M parameters</a:t>
            </a:r>
            <a:r>
              <a:rPr lang="ru-RU" sz="1300">
                <a:solidFill>
                  <a:schemeClr val="dk1"/>
                </a:solidFill>
              </a:rPr>
              <a:t>, модель легче SA-UNet почти в 2 раза.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300">
                <a:solidFill>
                  <a:schemeClr val="dk1"/>
                </a:solidFill>
              </a:rPr>
              <a:t>Weighted BCE + MCC loss</a:t>
            </a:r>
            <a:br>
              <a:rPr lang="ru-RU" sz="1300">
                <a:solidFill>
                  <a:schemeClr val="dk1"/>
                </a:solidFill>
              </a:rPr>
            </a:br>
            <a:r>
              <a:rPr lang="ru-RU" sz="1300">
                <a:solidFill>
                  <a:schemeClr val="dk1"/>
                </a:solidFill>
              </a:rPr>
              <a:t>BCE отвечает за pixel-wise accuracy, MCC — за баланс foreground/background.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44" name="Google Shape;244;p10"/>
          <p:cNvSpPr txBox="1"/>
          <p:nvPr/>
        </p:nvSpPr>
        <p:spPr>
          <a:xfrm>
            <a:off x="917100" y="6088800"/>
            <a:ext cx="1129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222222"/>
                </a:solidFill>
                <a:highlight>
                  <a:srgbClr val="FFFFFF"/>
                </a:highlight>
              </a:rPr>
              <a:t>Guo C. et al. SA-UNetv2: Rethinking Spatial Attention U-Net for Retinal Vessel Segmentation //2026 IEEE 23rd International Symposium on Biomedical Imaging (ISBI). – IEEE, 2026. – С. 1-5.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a9510f41b_0_164"/>
          <p:cNvSpPr txBox="1"/>
          <p:nvPr/>
        </p:nvSpPr>
        <p:spPr>
          <a:xfrm>
            <a:off x="1232800" y="204742"/>
            <a:ext cx="8167800" cy="1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ru-RU" sz="2300">
                <a:solidFill>
                  <a:schemeClr val="dk1"/>
                </a:solidFill>
              </a:rPr>
              <a:t>Loss functions: сравнение методов обучения при дисбалансе классов</a:t>
            </a:r>
            <a:br>
              <a:rPr b="1" lang="ru-RU" sz="2300">
                <a:solidFill>
                  <a:schemeClr val="dk1"/>
                </a:solidFill>
              </a:rPr>
            </a:br>
            <a:r>
              <a:rPr i="1" lang="ru-RU" sz="1200">
                <a:solidFill>
                  <a:schemeClr val="dk1"/>
                </a:solidFill>
              </a:rPr>
              <a:t>Все loss считались внутри FOV mask после препроцессинга: green channel + CLAHE</a:t>
            </a:r>
            <a:endParaRPr i="1"/>
          </a:p>
        </p:txBody>
      </p:sp>
      <p:sp>
        <p:nvSpPr>
          <p:cNvPr id="250" name="Google Shape;250;g3ea9510f41b_0_164"/>
          <p:cNvSpPr/>
          <p:nvPr/>
        </p:nvSpPr>
        <p:spPr>
          <a:xfrm>
            <a:off x="1002675" y="3812661"/>
            <a:ext cx="3209100" cy="2036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ru-RU" sz="1000">
                <a:solidFill>
                  <a:schemeClr val="dk1"/>
                </a:solidFill>
              </a:rPr>
              <a:t>Focal Loss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900">
                <a:solidFill>
                  <a:schemeClr val="dk1"/>
                </a:solidFill>
              </a:rPr>
              <a:t>снижает вклад легких пикселей и усиливает сложные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900">
                <a:solidFill>
                  <a:schemeClr val="accent1"/>
                </a:solidFill>
              </a:rPr>
              <a:t>+</a:t>
            </a:r>
            <a:r>
              <a:rPr lang="ru-RU" sz="900">
                <a:solidFill>
                  <a:schemeClr val="dk1"/>
                </a:solidFill>
              </a:rPr>
              <a:t> модель меньше “учится на легком фоне”</a:t>
            </a:r>
            <a:br>
              <a:rPr lang="ru-RU" sz="900">
                <a:solidFill>
                  <a:schemeClr val="dk1"/>
                </a:solidFill>
              </a:rPr>
            </a:br>
            <a:r>
              <a:rPr b="1" lang="ru-RU" sz="900">
                <a:solidFill>
                  <a:schemeClr val="accent1"/>
                </a:solidFill>
              </a:rPr>
              <a:t>+</a:t>
            </a:r>
            <a:r>
              <a:rPr lang="ru-RU" sz="900">
                <a:solidFill>
                  <a:schemeClr val="accent1"/>
                </a:solidFill>
              </a:rPr>
              <a:t> </a:t>
            </a:r>
            <a:r>
              <a:rPr lang="ru-RU" sz="900">
                <a:solidFill>
                  <a:schemeClr val="dk1"/>
                </a:solidFill>
              </a:rPr>
              <a:t>полезна при сильном дисбалансе</a:t>
            </a:r>
            <a:br>
              <a:rPr lang="ru-RU" sz="900">
                <a:solidFill>
                  <a:schemeClr val="dk1"/>
                </a:solidFill>
              </a:rPr>
            </a:br>
            <a:r>
              <a:rPr b="1" lang="ru-RU" sz="900">
                <a:solidFill>
                  <a:schemeClr val="accent1"/>
                </a:solidFill>
              </a:rPr>
              <a:t>−</a:t>
            </a:r>
            <a:r>
              <a:rPr lang="ru-RU" sz="900">
                <a:solidFill>
                  <a:schemeClr val="accent1"/>
                </a:solidFill>
              </a:rPr>
              <a:t> </a:t>
            </a:r>
            <a:r>
              <a:rPr lang="ru-RU" sz="900">
                <a:solidFill>
                  <a:schemeClr val="dk1"/>
                </a:solidFill>
              </a:rPr>
              <a:t>чувствительна к параметрам αα и γγ</a:t>
            </a:r>
            <a:endParaRPr sz="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</p:txBody>
      </p:sp>
      <p:sp>
        <p:nvSpPr>
          <p:cNvPr id="251" name="Google Shape;251;g3ea9510f41b_0_164"/>
          <p:cNvSpPr/>
          <p:nvPr/>
        </p:nvSpPr>
        <p:spPr>
          <a:xfrm>
            <a:off x="1002675" y="1597286"/>
            <a:ext cx="3209100" cy="2036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-RU" sz="1000">
                <a:solidFill>
                  <a:schemeClr val="dk1"/>
                </a:solidFill>
              </a:rPr>
              <a:t>BCE — Binary Cross-Entropy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900">
                <a:solidFill>
                  <a:schemeClr val="dk1"/>
                </a:solidFill>
              </a:rPr>
              <a:t>штрафует каждый пиксель отдельно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900">
                <a:solidFill>
                  <a:schemeClr val="dk1"/>
                </a:solidFill>
              </a:rPr>
              <a:t>+</a:t>
            </a:r>
            <a:r>
              <a:rPr lang="ru-RU" sz="900">
                <a:solidFill>
                  <a:schemeClr val="dk1"/>
                </a:solidFill>
              </a:rPr>
              <a:t> стабильный градиент, легко обучается</a:t>
            </a:r>
            <a:br>
              <a:rPr lang="ru-RU" sz="900">
                <a:solidFill>
                  <a:schemeClr val="dk1"/>
                </a:solidFill>
              </a:rPr>
            </a:br>
            <a:r>
              <a:rPr b="1" lang="ru-RU" sz="900">
                <a:solidFill>
                  <a:schemeClr val="dk1"/>
                </a:solidFill>
              </a:rPr>
              <a:t>−</a:t>
            </a:r>
            <a:r>
              <a:rPr lang="ru-RU" sz="900">
                <a:solidFill>
                  <a:schemeClr val="dk1"/>
                </a:solidFill>
              </a:rPr>
              <a:t> плохо работает при дисбалансе классов: фон доминирует над сосудами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252" name="Google Shape;252;g3ea9510f41b_0_164"/>
          <p:cNvSpPr/>
          <p:nvPr/>
        </p:nvSpPr>
        <p:spPr>
          <a:xfrm>
            <a:off x="4875625" y="3812661"/>
            <a:ext cx="3209100" cy="2036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100">
                <a:solidFill>
                  <a:schemeClr val="dk1"/>
                </a:solidFill>
              </a:rPr>
              <a:t>Tversky Loss</a:t>
            </a:r>
            <a:br>
              <a:rPr b="1" lang="ru-RU" sz="900">
                <a:solidFill>
                  <a:schemeClr val="dk1"/>
                </a:solidFill>
              </a:rPr>
            </a:br>
            <a:r>
              <a:rPr lang="ru-RU" sz="900">
                <a:solidFill>
                  <a:schemeClr val="dk1"/>
                </a:solidFill>
              </a:rPr>
              <a:t>позволяет отдельно управлять штрафом за FP и FN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-RU" sz="900">
                <a:solidFill>
                  <a:schemeClr val="accent1"/>
                </a:solidFill>
              </a:rPr>
              <a:t>+</a:t>
            </a:r>
            <a:r>
              <a:rPr lang="ru-RU" sz="900">
                <a:solidFill>
                  <a:schemeClr val="accent1"/>
                </a:solidFill>
              </a:rPr>
              <a:t> </a:t>
            </a:r>
            <a:r>
              <a:rPr lang="ru-RU" sz="900">
                <a:solidFill>
                  <a:schemeClr val="dk1"/>
                </a:solidFill>
              </a:rPr>
              <a:t>можно сильнее штрафовать пропущенные сосуды</a:t>
            </a:r>
            <a:br>
              <a:rPr lang="ru-RU" sz="900">
                <a:solidFill>
                  <a:schemeClr val="dk1"/>
                </a:solidFill>
              </a:rPr>
            </a:br>
            <a:r>
              <a:rPr b="1" lang="ru-RU" sz="900">
                <a:solidFill>
                  <a:schemeClr val="accent1"/>
                </a:solidFill>
              </a:rPr>
              <a:t>+</a:t>
            </a:r>
            <a:r>
              <a:rPr lang="ru-RU" sz="900">
                <a:solidFill>
                  <a:schemeClr val="dk1"/>
                </a:solidFill>
              </a:rPr>
              <a:t> полезно для повышения recall</a:t>
            </a:r>
            <a:br>
              <a:rPr lang="ru-RU" sz="900">
                <a:solidFill>
                  <a:schemeClr val="dk1"/>
                </a:solidFill>
              </a:rPr>
            </a:br>
            <a:r>
              <a:rPr b="1" lang="ru-RU" sz="900">
                <a:solidFill>
                  <a:schemeClr val="accent1"/>
                </a:solidFill>
              </a:rPr>
              <a:t>−</a:t>
            </a:r>
            <a:r>
              <a:rPr lang="ru-RU" sz="900">
                <a:solidFill>
                  <a:schemeClr val="accent1"/>
                </a:solidFill>
              </a:rPr>
              <a:t> </a:t>
            </a:r>
            <a:r>
              <a:rPr lang="ru-RU" sz="900">
                <a:solidFill>
                  <a:schemeClr val="dk1"/>
                </a:solidFill>
              </a:rPr>
              <a:t>при неверных параметрах может ухудшить precision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253" name="Google Shape;253;g3ea9510f41b_0_164"/>
          <p:cNvSpPr/>
          <p:nvPr/>
        </p:nvSpPr>
        <p:spPr>
          <a:xfrm>
            <a:off x="4875625" y="1597286"/>
            <a:ext cx="3209100" cy="2036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000">
                <a:solidFill>
                  <a:schemeClr val="dk1"/>
                </a:solidFill>
              </a:rPr>
              <a:t>Weighted BCE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chemeClr val="dk1"/>
                </a:solidFill>
              </a:rPr>
              <a:t>увеличивает штраф за ошибки на классе сосудов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900">
                <a:solidFill>
                  <a:schemeClr val="dk1"/>
                </a:solidFill>
              </a:rPr>
              <a:t>+</a:t>
            </a:r>
            <a:r>
              <a:rPr lang="ru-RU" sz="900">
                <a:solidFill>
                  <a:schemeClr val="dk1"/>
                </a:solidFill>
              </a:rPr>
              <a:t> компенсирует перекос background / vessel</a:t>
            </a:r>
            <a:br>
              <a:rPr lang="ru-RU" sz="900">
                <a:solidFill>
                  <a:schemeClr val="dk1"/>
                </a:solidFill>
              </a:rPr>
            </a:br>
            <a:r>
              <a:rPr b="1" lang="ru-RU" sz="900">
                <a:solidFill>
                  <a:schemeClr val="dk1"/>
                </a:solidFill>
              </a:rPr>
              <a:t>−</a:t>
            </a:r>
            <a:r>
              <a:rPr lang="ru-RU" sz="900">
                <a:solidFill>
                  <a:schemeClr val="dk1"/>
                </a:solidFill>
              </a:rPr>
              <a:t> веса нужно подбирать аккуратно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54" name="Google Shape;254;g3ea9510f41b_0_164"/>
          <p:cNvSpPr/>
          <p:nvPr/>
        </p:nvSpPr>
        <p:spPr>
          <a:xfrm>
            <a:off x="8748575" y="3812661"/>
            <a:ext cx="3209100" cy="2036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ru-RU" sz="1000">
                <a:solidFill>
                  <a:schemeClr val="dk1"/>
                </a:solidFill>
              </a:rPr>
              <a:t>BCE + MCC </a:t>
            </a:r>
            <a:br>
              <a:rPr b="1" lang="ru-RU" sz="1000">
                <a:solidFill>
                  <a:schemeClr val="dk1"/>
                </a:solidFill>
              </a:rPr>
            </a:br>
            <a:r>
              <a:rPr lang="ru-RU" sz="900">
                <a:solidFill>
                  <a:schemeClr val="dk1"/>
                </a:solidFill>
              </a:rPr>
              <a:t>учитывает не только ошибку пикселя, но и баланс TP, TN, FP, FN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-RU" sz="900">
                <a:solidFill>
                  <a:schemeClr val="accent1"/>
                </a:solidFill>
              </a:rPr>
              <a:t>+</a:t>
            </a:r>
            <a:r>
              <a:rPr lang="ru-RU" sz="900">
                <a:solidFill>
                  <a:schemeClr val="accent1"/>
                </a:solidFill>
              </a:rPr>
              <a:t> </a:t>
            </a:r>
            <a:r>
              <a:rPr lang="ru-RU" sz="900">
                <a:solidFill>
                  <a:schemeClr val="dk1"/>
                </a:solidFill>
              </a:rPr>
              <a:t>устойчивее при дисбалансе классов</a:t>
            </a:r>
            <a:br>
              <a:rPr lang="ru-RU" sz="900">
                <a:solidFill>
                  <a:schemeClr val="dk1"/>
                </a:solidFill>
              </a:rPr>
            </a:br>
            <a:r>
              <a:rPr b="1" lang="ru-RU" sz="900">
                <a:solidFill>
                  <a:schemeClr val="accent1"/>
                </a:solidFill>
              </a:rPr>
              <a:t>+</a:t>
            </a:r>
            <a:r>
              <a:rPr lang="ru-RU" sz="900">
                <a:solidFill>
                  <a:schemeClr val="dk1"/>
                </a:solidFill>
              </a:rPr>
              <a:t> учитывает все типы ошибок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55" name="Google Shape;255;g3ea9510f41b_0_164"/>
          <p:cNvSpPr/>
          <p:nvPr/>
        </p:nvSpPr>
        <p:spPr>
          <a:xfrm>
            <a:off x="8748575" y="1597286"/>
            <a:ext cx="3209100" cy="2036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-RU" sz="1000">
                <a:solidFill>
                  <a:schemeClr val="dk1"/>
                </a:solidFill>
              </a:rPr>
              <a:t>BCE + Dice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900">
                <a:solidFill>
                  <a:schemeClr val="dk1"/>
                </a:solidFill>
              </a:rPr>
              <a:t>попиксельная ошибка + overlap масок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-RU" sz="900">
                <a:solidFill>
                  <a:schemeClr val="dk1"/>
                </a:solidFill>
              </a:rPr>
              <a:t>+</a:t>
            </a:r>
            <a:r>
              <a:rPr lang="ru-RU" sz="900">
                <a:solidFill>
                  <a:schemeClr val="dk1"/>
                </a:solidFill>
              </a:rPr>
              <a:t> стабильный градиент от BCE</a:t>
            </a:r>
            <a:br>
              <a:rPr lang="ru-RU" sz="900">
                <a:solidFill>
                  <a:schemeClr val="dk1"/>
                </a:solidFill>
              </a:rPr>
            </a:br>
            <a:r>
              <a:rPr b="1" lang="ru-RU" sz="900">
                <a:solidFill>
                  <a:schemeClr val="dk1"/>
                </a:solidFill>
              </a:rPr>
              <a:t>+</a:t>
            </a:r>
            <a:r>
              <a:rPr lang="ru-RU" sz="900">
                <a:solidFill>
                  <a:schemeClr val="dk1"/>
                </a:solidFill>
              </a:rPr>
              <a:t> Dice учитывает качество сегментации сосудов</a:t>
            </a:r>
            <a:br>
              <a:rPr lang="ru-RU" sz="900">
                <a:solidFill>
                  <a:schemeClr val="dk1"/>
                </a:solidFill>
              </a:rPr>
            </a:br>
            <a:r>
              <a:rPr b="1" lang="ru-RU" sz="900">
                <a:solidFill>
                  <a:schemeClr val="dk1"/>
                </a:solidFill>
              </a:rPr>
              <a:t>−</a:t>
            </a:r>
            <a:r>
              <a:rPr lang="ru-RU" sz="900">
                <a:solidFill>
                  <a:schemeClr val="dk1"/>
                </a:solidFill>
              </a:rPr>
              <a:t> BCE чувствителен к доминированию фона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256" name="Google Shape;256;g3ea9510f41b_0_164" title="Снимок экрана 2026-06-10 в 14.00.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3125" y="4511581"/>
            <a:ext cx="2999999" cy="63855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57" name="Google Shape;257;g3ea9510f41b_0_164" title="Снимок экрана 2026-06-10 в 14.14.0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9388" y="4407125"/>
            <a:ext cx="1881575" cy="5236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58" name="Google Shape;258;g3ea9510f41b_0_164" title="Снимок экрана 2026-06-10 в 14.16.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2713" y="4446374"/>
            <a:ext cx="1829025" cy="44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3ea9510f41b_0_164" title="Снимок экрана 2026-06-10 в 14.19.0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99970" y="2378650"/>
            <a:ext cx="3016006" cy="4451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60" name="Google Shape;260;g3ea9510f41b_0_164" title="Снимок экрана 2026-06-10 в 14.23.3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54150" y="2378655"/>
            <a:ext cx="2218275" cy="3919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61" name="Google Shape;261;g3ea9510f41b_0_164" title="Снимок экрана 2026-06-10 в 14.40.52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121750" y="2419601"/>
            <a:ext cx="2462751" cy="3100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"/>
          <p:cNvSpPr txBox="1"/>
          <p:nvPr/>
        </p:nvSpPr>
        <p:spPr>
          <a:xfrm>
            <a:off x="8082800" y="2015400"/>
            <a:ext cx="3810000" cy="2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700">
                <a:solidFill>
                  <a:schemeClr val="accent1"/>
                </a:solidFill>
              </a:rPr>
              <a:t>Зачем это нужно:</a:t>
            </a:r>
            <a:endParaRPr b="1" sz="17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Тонкие сосуды занимают мало пикселей</a:t>
            </a:r>
            <a:br>
              <a:rPr lang="ru-RU">
                <a:solidFill>
                  <a:schemeClr val="dk1"/>
                </a:solidFill>
              </a:rPr>
            </a:br>
            <a:r>
              <a:rPr lang="ru-RU">
                <a:solidFill>
                  <a:schemeClr val="dk1"/>
                </a:solidFill>
              </a:rPr>
              <a:t>и слабо влияют на обычную pixel-wise loss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Обычная loss сильнее ориентируется</a:t>
            </a:r>
            <a:br>
              <a:rPr lang="ru-RU">
                <a:solidFill>
                  <a:schemeClr val="dk1"/>
                </a:solidFill>
              </a:rPr>
            </a:br>
            <a:r>
              <a:rPr lang="ru-RU">
                <a:solidFill>
                  <a:schemeClr val="dk1"/>
                </a:solidFill>
              </a:rPr>
              <a:t>на толстые сосуды и фон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Segment-level часть увеличивает штраф</a:t>
            </a:r>
            <a:br>
              <a:rPr lang="ru-RU">
                <a:solidFill>
                  <a:schemeClr val="dk1"/>
                </a:solidFill>
              </a:rPr>
            </a:br>
            <a:r>
              <a:rPr lang="ru-RU">
                <a:solidFill>
                  <a:schemeClr val="dk1"/>
                </a:solidFill>
              </a:rPr>
              <a:t>за ошибки толщины тонких сосудов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679250" y="3469875"/>
            <a:ext cx="2748600" cy="2313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300">
                <a:solidFill>
                  <a:schemeClr val="dk1"/>
                </a:solidFill>
              </a:rPr>
              <a:t>Pixel-wise loss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</a:rPr>
              <a:t>Сравнивает предсказание и ground truth на уровне каждого пикселя.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</a:rPr>
              <a:t>Отвечает за базовое разделение: vessel / background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100">
                <a:solidFill>
                  <a:schemeClr val="accent1"/>
                </a:solidFill>
              </a:rPr>
              <a:t>-</a:t>
            </a:r>
            <a:r>
              <a:rPr lang="ru-RU" sz="1100">
                <a:solidFill>
                  <a:schemeClr val="accent1"/>
                </a:solidFill>
              </a:rPr>
              <a:t> </a:t>
            </a:r>
            <a:r>
              <a:rPr lang="ru-RU" sz="1100">
                <a:solidFill>
                  <a:schemeClr val="dk1"/>
                </a:solidFill>
              </a:rPr>
              <a:t>при дисбалансе сильнее ориентируется</a:t>
            </a:r>
            <a:br>
              <a:rPr lang="ru-RU" sz="1100">
                <a:solidFill>
                  <a:schemeClr val="dk1"/>
                </a:solidFill>
              </a:rPr>
            </a:br>
            <a:r>
              <a:rPr lang="ru-RU" sz="1100">
                <a:solidFill>
                  <a:schemeClr val="dk1"/>
                </a:solidFill>
              </a:rPr>
              <a:t>на фон и толстые сосуды.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4363988" y="3469875"/>
            <a:ext cx="3233700" cy="2313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300">
                <a:solidFill>
                  <a:schemeClr val="dk1"/>
                </a:solidFill>
              </a:rPr>
              <a:t>Segment-level loss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</a:rPr>
              <a:t>Оценивает ошибку не только по пикселям, но и по сосудистым сегментам.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</a:rPr>
              <a:t>Использует веса, зависящие от несоответствия толщины сегмента.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200">
                <a:solidFill>
                  <a:schemeClr val="dk1"/>
                </a:solidFill>
              </a:rPr>
              <a:t>Сильнее штрафует ошибки на тонких сосудах.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69" name="Google Shape;269;p7"/>
          <p:cNvSpPr txBox="1"/>
          <p:nvPr/>
        </p:nvSpPr>
        <p:spPr>
          <a:xfrm>
            <a:off x="1292675" y="219776"/>
            <a:ext cx="5578800" cy="13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ru-RU" sz="2300">
                <a:solidFill>
                  <a:schemeClr val="dk1"/>
                </a:solidFill>
              </a:rPr>
              <a:t>Loss функция: joint pixel-wise + segment-level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ru-RU" sz="1100">
                <a:solidFill>
                  <a:schemeClr val="dk1"/>
                </a:solidFill>
              </a:rPr>
              <a:t>Loss учитывает не только отдельные пиксели, но и структуру сосудов</a:t>
            </a:r>
            <a:endParaRPr i="1" sz="1100">
              <a:solidFill>
                <a:schemeClr val="dk1"/>
              </a:solidFill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1551225" y="2015400"/>
            <a:ext cx="4752000" cy="729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chemeClr val="lt1"/>
                </a:solidFill>
              </a:rPr>
              <a:t>L </a:t>
            </a:r>
            <a:r>
              <a:rPr b="1" lang="ru-RU" sz="1500">
                <a:solidFill>
                  <a:schemeClr val="lt1"/>
                </a:solidFill>
              </a:rPr>
              <a:t>joint</a:t>
            </a:r>
            <a:r>
              <a:rPr b="1" lang="ru-RU" sz="2200">
                <a:solidFill>
                  <a:schemeClr val="lt1"/>
                </a:solidFill>
              </a:rPr>
              <a:t> ​= α⋅L </a:t>
            </a:r>
            <a:r>
              <a:rPr b="1" lang="ru-RU" sz="1500">
                <a:solidFill>
                  <a:schemeClr val="lt1"/>
                </a:solidFill>
              </a:rPr>
              <a:t>pixel​ </a:t>
            </a:r>
            <a:r>
              <a:rPr b="1" lang="ru-RU" sz="2200">
                <a:solidFill>
                  <a:schemeClr val="lt1"/>
                </a:solidFill>
              </a:rPr>
              <a:t>+ (1−α)⋅L </a:t>
            </a:r>
            <a:r>
              <a:rPr b="1" lang="ru-RU" sz="1500">
                <a:solidFill>
                  <a:schemeClr val="lt1"/>
                </a:solidFill>
              </a:rPr>
              <a:t>segment​</a:t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451550" y="6136950"/>
            <a:ext cx="1250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222222"/>
                </a:solidFill>
                <a:highlight>
                  <a:srgbClr val="FFFFFF"/>
                </a:highlight>
              </a:rPr>
              <a:t>Yan Z., Yang X., Cheng K. T. Joint segment-level and pixel-wise losses for deep learning based retinal vessel segmentation //IEEE Transactions on Biomedical Engineering. – 2018. – Т. 65. – №. 9. – С. 1912-1923.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ab302d51d_0_7"/>
          <p:cNvSpPr txBox="1"/>
          <p:nvPr>
            <p:ph idx="1" type="body"/>
          </p:nvPr>
        </p:nvSpPr>
        <p:spPr>
          <a:xfrm>
            <a:off x="891024" y="1820976"/>
            <a:ext cx="11205600" cy="4340400"/>
          </a:xfrm>
          <a:prstGeom prst="rect">
            <a:avLst/>
          </a:prstGeom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998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eab302d51d_0_7"/>
          <p:cNvSpPr txBox="1"/>
          <p:nvPr>
            <p:ph idx="12" type="sldNum"/>
          </p:nvPr>
        </p:nvSpPr>
        <p:spPr>
          <a:xfrm>
            <a:off x="165463" y="266377"/>
            <a:ext cx="738000" cy="36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78" name="Google Shape;278;g3eab302d51d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662" y="900000"/>
            <a:ext cx="11864325" cy="587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"/>
          <p:cNvSpPr txBox="1"/>
          <p:nvPr/>
        </p:nvSpPr>
        <p:spPr>
          <a:xfrm>
            <a:off x="1232800" y="270600"/>
            <a:ext cx="452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Наши эксперименты</a:t>
            </a:r>
            <a:endParaRPr/>
          </a:p>
        </p:txBody>
      </p:sp>
      <p:pic>
        <p:nvPicPr>
          <p:cNvPr id="284" name="Google Shape;2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780075"/>
            <a:ext cx="12655552" cy="56394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5" name="Google Shape;285;p11"/>
          <p:cNvCxnSpPr/>
          <p:nvPr/>
        </p:nvCxnSpPr>
        <p:spPr>
          <a:xfrm>
            <a:off x="466050" y="6419575"/>
            <a:ext cx="31872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"/>
          <p:cNvSpPr txBox="1"/>
          <p:nvPr/>
        </p:nvSpPr>
        <p:spPr>
          <a:xfrm>
            <a:off x="1232800" y="270600"/>
            <a:ext cx="452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Итоговый алгоритм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 txBox="1"/>
          <p:nvPr/>
        </p:nvSpPr>
        <p:spPr>
          <a:xfrm>
            <a:off x="3893875" y="4554325"/>
            <a:ext cx="5172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dk1"/>
                </a:solidFill>
              </a:rPr>
              <a:t>Критерий выбора: </a:t>
            </a:r>
            <a:r>
              <a:rPr lang="ru-RU">
                <a:solidFill>
                  <a:schemeClr val="dk1"/>
                </a:solidFill>
              </a:rPr>
              <a:t>максимальный validation Dice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Dice = 2·TP / (2·TP + FP + FN)</a:t>
            </a:r>
            <a:br>
              <a:rPr lang="ru-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Дополнительно контролировали IoU и баланс Precision / Recall, чтобы модель не только находила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</a:rPr>
              <a:t>сосуды, но и не дорисовывала лишний фон.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2" name="Google Shape;292;p12"/>
          <p:cNvSpPr txBox="1"/>
          <p:nvPr/>
        </p:nvSpPr>
        <p:spPr>
          <a:xfrm>
            <a:off x="2403981" y="3750945"/>
            <a:ext cx="354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3033681" y="2173791"/>
            <a:ext cx="1907400" cy="186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>
                <a:solidFill>
                  <a:schemeClr val="dk1"/>
                </a:solidFill>
              </a:rPr>
              <a:t>Green channel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>
                <a:solidFill>
                  <a:schemeClr val="dk1"/>
                </a:solidFill>
              </a:rPr>
              <a:t>+ CLAHE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>
                <a:solidFill>
                  <a:schemeClr val="dk1"/>
                </a:solidFill>
              </a:rPr>
              <a:t>+ resize 512×512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</a:rPr>
              <a:t>+ normalization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5685706" y="2173791"/>
            <a:ext cx="1907400" cy="186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</a:rPr>
              <a:t>SA-UNetv2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8282407" y="2173791"/>
            <a:ext cx="1796700" cy="186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</a:rPr>
              <a:t>BCE + MCC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10795176" y="2119831"/>
            <a:ext cx="1907400" cy="1914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</a:rPr>
              <a:t>Binary vessel mask</a:t>
            </a:r>
            <a:endParaRPr sz="1000">
              <a:highlight>
                <a:schemeClr val="lt1"/>
              </a:highlight>
            </a:endParaRPr>
          </a:p>
        </p:txBody>
      </p:sp>
      <p:sp>
        <p:nvSpPr>
          <p:cNvPr id="297" name="Google Shape;297;p12"/>
          <p:cNvSpPr txBox="1"/>
          <p:nvPr/>
        </p:nvSpPr>
        <p:spPr>
          <a:xfrm>
            <a:off x="3217209" y="1584987"/>
            <a:ext cx="154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</a:rPr>
              <a:t>Preprocessing</a:t>
            </a:r>
            <a:endParaRPr b="1"/>
          </a:p>
        </p:txBody>
      </p:sp>
      <p:sp>
        <p:nvSpPr>
          <p:cNvPr id="298" name="Google Shape;298;p12"/>
          <p:cNvSpPr txBox="1"/>
          <p:nvPr/>
        </p:nvSpPr>
        <p:spPr>
          <a:xfrm>
            <a:off x="6161017" y="1584987"/>
            <a:ext cx="97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</a:rPr>
              <a:t>Model </a:t>
            </a:r>
            <a:endParaRPr b="1"/>
          </a:p>
        </p:txBody>
      </p:sp>
      <p:sp>
        <p:nvSpPr>
          <p:cNvPr id="299" name="Google Shape;299;p12"/>
          <p:cNvSpPr txBox="1"/>
          <p:nvPr/>
        </p:nvSpPr>
        <p:spPr>
          <a:xfrm>
            <a:off x="8302252" y="1584987"/>
            <a:ext cx="179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</a:rPr>
              <a:t>Loss</a:t>
            </a:r>
            <a:endParaRPr b="1"/>
          </a:p>
        </p:txBody>
      </p:sp>
      <p:sp>
        <p:nvSpPr>
          <p:cNvPr id="300" name="Google Shape;300;p12"/>
          <p:cNvSpPr txBox="1"/>
          <p:nvPr/>
        </p:nvSpPr>
        <p:spPr>
          <a:xfrm>
            <a:off x="10795205" y="1558000"/>
            <a:ext cx="179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</a:rPr>
              <a:t>Output</a:t>
            </a:r>
            <a:endParaRPr b="1"/>
          </a:p>
        </p:txBody>
      </p:sp>
      <p:cxnSp>
        <p:nvCxnSpPr>
          <p:cNvPr id="301" name="Google Shape;301;p12"/>
          <p:cNvCxnSpPr>
            <a:stCxn id="293" idx="3"/>
            <a:endCxn id="294" idx="1"/>
          </p:cNvCxnSpPr>
          <p:nvPr/>
        </p:nvCxnSpPr>
        <p:spPr>
          <a:xfrm>
            <a:off x="4941081" y="3103941"/>
            <a:ext cx="74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" name="Google Shape;302;p12"/>
          <p:cNvCxnSpPr/>
          <p:nvPr/>
        </p:nvCxnSpPr>
        <p:spPr>
          <a:xfrm>
            <a:off x="7509993" y="3162133"/>
            <a:ext cx="74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3" name="Google Shape;303;p12"/>
          <p:cNvCxnSpPr/>
          <p:nvPr/>
        </p:nvCxnSpPr>
        <p:spPr>
          <a:xfrm>
            <a:off x="10079032" y="3162133"/>
            <a:ext cx="74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4" name="Google Shape;304;p12"/>
          <p:cNvSpPr txBox="1"/>
          <p:nvPr/>
        </p:nvSpPr>
        <p:spPr>
          <a:xfrm>
            <a:off x="-257900" y="3754300"/>
            <a:ext cx="354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371799" y="2174500"/>
            <a:ext cx="1907400" cy="1863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>
                <a:solidFill>
                  <a:schemeClr val="dk1"/>
                </a:solidFill>
              </a:rPr>
              <a:t>DRIVE image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</a:rPr>
              <a:t>+ GT mask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582546" y="1585337"/>
            <a:ext cx="154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</a:rPr>
              <a:t>Input</a:t>
            </a:r>
            <a:endParaRPr b="1"/>
          </a:p>
        </p:txBody>
      </p:sp>
      <p:cxnSp>
        <p:nvCxnSpPr>
          <p:cNvPr id="307" name="Google Shape;307;p12"/>
          <p:cNvCxnSpPr>
            <a:stCxn id="305" idx="3"/>
          </p:cNvCxnSpPr>
          <p:nvPr/>
        </p:nvCxnSpPr>
        <p:spPr>
          <a:xfrm>
            <a:off x="2279199" y="3106150"/>
            <a:ext cx="74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8" name="Google Shape;308;p12"/>
          <p:cNvSpPr/>
          <p:nvPr/>
        </p:nvSpPr>
        <p:spPr>
          <a:xfrm>
            <a:off x="1081279" y="996175"/>
            <a:ext cx="488400" cy="369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lt1"/>
                </a:solidFill>
              </a:rPr>
              <a:t>1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3743145" y="996175"/>
            <a:ext cx="488400" cy="369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lt1"/>
                </a:solidFill>
              </a:rPr>
              <a:t>2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6401583" y="996150"/>
            <a:ext cx="488400" cy="369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lt1"/>
                </a:solidFill>
              </a:rPr>
              <a:t>3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8956394" y="996175"/>
            <a:ext cx="488400" cy="369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lt1"/>
                </a:solidFill>
              </a:rPr>
              <a:t>4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11444504" y="996175"/>
            <a:ext cx="488400" cy="369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lt1"/>
                </a:solidFill>
              </a:rPr>
              <a:t>5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313" name="Google Shape;313;p12"/>
          <p:cNvSpPr txBox="1"/>
          <p:nvPr/>
        </p:nvSpPr>
        <p:spPr>
          <a:xfrm>
            <a:off x="2171453" y="637612"/>
            <a:ext cx="48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14" name="Google Shape;314;p12"/>
          <p:cNvSpPr txBox="1"/>
          <p:nvPr/>
        </p:nvSpPr>
        <p:spPr>
          <a:xfrm>
            <a:off x="582550" y="4338775"/>
            <a:ext cx="30000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1500">
                <a:solidFill>
                  <a:schemeClr val="accent1"/>
                </a:solidFill>
              </a:rPr>
              <a:t>Best experiment:</a:t>
            </a:r>
            <a:endParaRPr b="1" i="1" sz="15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/>
              <a:t>SA-UNetv2 + BCE + MCC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/>
              <a:t>Dice = 0.7699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/>
              <a:t>IoU = 0.6258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/>
              <a:t>Precision = 0.7631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/>
              <a:t>Recall = 0.7768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/>
              <a:t>Accuracy = 0.9373</a:t>
            </a:r>
            <a:endParaRPr i="1"/>
          </a:p>
        </p:txBody>
      </p:sp>
      <p:pic>
        <p:nvPicPr>
          <p:cNvPr id="315" name="Google Shape;31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6407" y="4478615"/>
            <a:ext cx="3735299" cy="2090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 txBox="1"/>
          <p:nvPr>
            <p:ph type="ctrTitle"/>
          </p:nvPr>
        </p:nvSpPr>
        <p:spPr>
          <a:xfrm>
            <a:off x="916864" y="1616634"/>
            <a:ext cx="10423442" cy="2200943"/>
          </a:xfrm>
          <a:prstGeom prst="rect">
            <a:avLst/>
          </a:prstGeom>
          <a:noFill/>
          <a:ln>
            <a:noFill/>
          </a:ln>
        </p:spPr>
        <p:txBody>
          <a:bodyPr anchorCtr="0" anchor="b" bIns="36000" lIns="36000" spcFirstLastPara="1" rIns="36000" wrap="square" tIns="36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ru-RU"/>
              <a:t>СПАСИБО ЗА ВНИМАНИЕ!</a:t>
            </a:r>
            <a:endParaRPr/>
          </a:p>
        </p:txBody>
      </p:sp>
      <p:sp>
        <p:nvSpPr>
          <p:cNvPr id="321" name="Google Shape;321;p14"/>
          <p:cNvSpPr txBox="1"/>
          <p:nvPr/>
        </p:nvSpPr>
        <p:spPr>
          <a:xfrm>
            <a:off x="913800" y="6125935"/>
            <a:ext cx="21469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Москва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RANEPA">
      <a:dk1>
        <a:srgbClr val="000000"/>
      </a:dk1>
      <a:lt1>
        <a:srgbClr val="FFFFFF"/>
      </a:lt1>
      <a:dk2>
        <a:srgbClr val="404040"/>
      </a:dk2>
      <a:lt2>
        <a:srgbClr val="E7E6E6"/>
      </a:lt2>
      <a:accent1>
        <a:srgbClr val="A30236"/>
      </a:accent1>
      <a:accent2>
        <a:srgbClr val="ED7D31"/>
      </a:accent2>
      <a:accent3>
        <a:srgbClr val="879DC1"/>
      </a:accent3>
      <a:accent4>
        <a:srgbClr val="FF5C36"/>
      </a:accent4>
      <a:accent5>
        <a:srgbClr val="3F5CBD"/>
      </a:accent5>
      <a:accent6>
        <a:srgbClr val="12A3AD"/>
      </a:accent6>
      <a:hlink>
        <a:srgbClr val="6D6D6D"/>
      </a:hlink>
      <a:folHlink>
        <a:srgbClr val="AFABA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2022-10-16T16:54:41Z</dcterms:created>
  <dc:creator>Microsoft Office User</dc:creator>
</cp:coreProperties>
</file>